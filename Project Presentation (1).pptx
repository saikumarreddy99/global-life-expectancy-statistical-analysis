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9"/>
  </p:normalViewPr>
  <p:slideViewPr>
    <p:cSldViewPr>
      <p:cViewPr varScale="1">
        <p:scale>
          <a:sx n="147" d="100"/>
          <a:sy n="147" d="100"/>
        </p:scale>
        <p:origin x="224" y="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54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54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54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54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424" y="121398"/>
            <a:ext cx="8367395" cy="68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54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381214"/>
            <a:ext cx="11419840" cy="334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kumarajarshi/life-expectancy-who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jpg"/><Relationship Id="rId4" Type="http://schemas.openxmlformats.org/officeDocument/2006/relationships/image" Target="../media/image4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7" Type="http://schemas.openxmlformats.org/officeDocument/2006/relationships/image" Target="../media/image5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7" Type="http://schemas.openxmlformats.org/officeDocument/2006/relationships/image" Target="../media/image6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jpg"/><Relationship Id="rId5" Type="http://schemas.openxmlformats.org/officeDocument/2006/relationships/image" Target="../media/image60.png"/><Relationship Id="rId4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35" y="-138710"/>
            <a:ext cx="12384172" cy="6694425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27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127" y="0"/>
                </a:lnTo>
                <a:lnTo>
                  <a:pt x="12192127" y="685800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4740" y="0"/>
            <a:ext cx="7838492" cy="6694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2031" y="138710"/>
            <a:ext cx="10895569" cy="12630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495"/>
              </a:spcBef>
            </a:pPr>
            <a:r>
              <a:rPr sz="2900" spc="-10" dirty="0">
                <a:solidFill>
                  <a:srgbClr val="C55A11"/>
                </a:solidFill>
              </a:rPr>
              <a:t>EXAMINING</a:t>
            </a:r>
            <a:r>
              <a:rPr sz="2900" spc="-130" dirty="0">
                <a:solidFill>
                  <a:srgbClr val="C55A11"/>
                </a:solidFill>
              </a:rPr>
              <a:t> </a:t>
            </a:r>
            <a:r>
              <a:rPr sz="2900" dirty="0">
                <a:solidFill>
                  <a:srgbClr val="C55A11"/>
                </a:solidFill>
              </a:rPr>
              <a:t>THE</a:t>
            </a:r>
            <a:r>
              <a:rPr sz="2900" spc="-75" dirty="0">
                <a:solidFill>
                  <a:srgbClr val="C55A11"/>
                </a:solidFill>
              </a:rPr>
              <a:t> </a:t>
            </a:r>
            <a:r>
              <a:rPr sz="2900" spc="-35" dirty="0">
                <a:solidFill>
                  <a:srgbClr val="C55A11"/>
                </a:solidFill>
              </a:rPr>
              <a:t>IMPACT</a:t>
            </a:r>
            <a:r>
              <a:rPr sz="2900" spc="-125" dirty="0">
                <a:solidFill>
                  <a:srgbClr val="C55A11"/>
                </a:solidFill>
              </a:rPr>
              <a:t> </a:t>
            </a:r>
            <a:r>
              <a:rPr sz="2900" dirty="0">
                <a:solidFill>
                  <a:srgbClr val="C55A11"/>
                </a:solidFill>
              </a:rPr>
              <a:t>OF</a:t>
            </a:r>
            <a:r>
              <a:rPr sz="2900" spc="-175" dirty="0">
                <a:solidFill>
                  <a:srgbClr val="C55A11"/>
                </a:solidFill>
              </a:rPr>
              <a:t> </a:t>
            </a:r>
            <a:r>
              <a:rPr sz="2900" spc="-40" dirty="0">
                <a:solidFill>
                  <a:srgbClr val="C55A11"/>
                </a:solidFill>
              </a:rPr>
              <a:t>HEALTH</a:t>
            </a:r>
            <a:r>
              <a:rPr sz="2900" spc="-75" dirty="0">
                <a:solidFill>
                  <a:srgbClr val="C55A11"/>
                </a:solidFill>
              </a:rPr>
              <a:t> </a:t>
            </a:r>
            <a:r>
              <a:rPr sz="2900" spc="-10" dirty="0">
                <a:solidFill>
                  <a:srgbClr val="C55A11"/>
                </a:solidFill>
              </a:rPr>
              <a:t>INDICATORS, </a:t>
            </a:r>
            <a:r>
              <a:rPr sz="2900" dirty="0">
                <a:solidFill>
                  <a:srgbClr val="C55A11"/>
                </a:solidFill>
              </a:rPr>
              <a:t>SOCIOECONOMIC</a:t>
            </a:r>
            <a:r>
              <a:rPr sz="2900" spc="-80" dirty="0">
                <a:solidFill>
                  <a:srgbClr val="C55A11"/>
                </a:solidFill>
              </a:rPr>
              <a:t> </a:t>
            </a:r>
            <a:r>
              <a:rPr sz="2900" spc="-50" dirty="0">
                <a:solidFill>
                  <a:srgbClr val="C55A11"/>
                </a:solidFill>
              </a:rPr>
              <a:t>FACTORS,</a:t>
            </a:r>
            <a:r>
              <a:rPr sz="2900" spc="-160" dirty="0">
                <a:solidFill>
                  <a:srgbClr val="C55A11"/>
                </a:solidFill>
              </a:rPr>
              <a:t> </a:t>
            </a:r>
            <a:r>
              <a:rPr sz="2900" dirty="0">
                <a:solidFill>
                  <a:srgbClr val="C55A11"/>
                </a:solidFill>
              </a:rPr>
              <a:t>AND</a:t>
            </a:r>
            <a:r>
              <a:rPr sz="2900" spc="-45" dirty="0">
                <a:solidFill>
                  <a:srgbClr val="C55A11"/>
                </a:solidFill>
              </a:rPr>
              <a:t> </a:t>
            </a:r>
            <a:r>
              <a:rPr sz="2900" spc="-30" dirty="0">
                <a:solidFill>
                  <a:srgbClr val="C55A11"/>
                </a:solidFill>
              </a:rPr>
              <a:t>EDUCATION</a:t>
            </a:r>
            <a:r>
              <a:rPr sz="2900" spc="-45" dirty="0">
                <a:solidFill>
                  <a:srgbClr val="C55A11"/>
                </a:solidFill>
              </a:rPr>
              <a:t> </a:t>
            </a:r>
            <a:r>
              <a:rPr sz="2900" dirty="0">
                <a:solidFill>
                  <a:srgbClr val="C55A11"/>
                </a:solidFill>
              </a:rPr>
              <a:t>ON</a:t>
            </a:r>
            <a:r>
              <a:rPr sz="2900" spc="-45" dirty="0">
                <a:solidFill>
                  <a:srgbClr val="C55A11"/>
                </a:solidFill>
              </a:rPr>
              <a:t> </a:t>
            </a:r>
            <a:r>
              <a:rPr sz="2900" spc="-10" dirty="0">
                <a:solidFill>
                  <a:srgbClr val="C55A11"/>
                </a:solidFill>
              </a:rPr>
              <a:t>GLOBAL </a:t>
            </a:r>
            <a:r>
              <a:rPr sz="2900" dirty="0">
                <a:solidFill>
                  <a:srgbClr val="C55A11"/>
                </a:solidFill>
              </a:rPr>
              <a:t>LIFE</a:t>
            </a:r>
            <a:r>
              <a:rPr sz="2900" spc="-70" dirty="0">
                <a:solidFill>
                  <a:srgbClr val="C55A11"/>
                </a:solidFill>
              </a:rPr>
              <a:t> </a:t>
            </a:r>
            <a:r>
              <a:rPr sz="2900" spc="-10" dirty="0">
                <a:solidFill>
                  <a:srgbClr val="C55A11"/>
                </a:solidFill>
              </a:rPr>
              <a:t>EXPECTANCY.</a:t>
            </a:r>
            <a:endParaRPr sz="2900" dirty="0"/>
          </a:p>
        </p:txBody>
      </p:sp>
      <p:sp>
        <p:nvSpPr>
          <p:cNvPr id="5" name="object 5"/>
          <p:cNvSpPr txBox="1"/>
          <p:nvPr/>
        </p:nvSpPr>
        <p:spPr>
          <a:xfrm>
            <a:off x="389995" y="2558414"/>
            <a:ext cx="47212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90"/>
              </a:spcBef>
            </a:pPr>
            <a:r>
              <a:rPr sz="2000" dirty="0">
                <a:latin typeface="Arial MT"/>
                <a:cs typeface="Arial MT"/>
              </a:rPr>
              <a:t>SAIKUMAR</a:t>
            </a:r>
            <a:r>
              <a:rPr sz="2000" spc="-10" dirty="0">
                <a:latin typeface="Arial MT"/>
                <a:cs typeface="Arial MT"/>
              </a:rPr>
              <a:t>REDDY</a:t>
            </a:r>
            <a:r>
              <a:rPr lang="en-US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YALAGALAPALLI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40" y="748123"/>
            <a:ext cx="3683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6786" y="1911013"/>
            <a:ext cx="4901565" cy="33604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95885" indent="-229235">
              <a:lnSpc>
                <a:spcPts val="1730"/>
              </a:lnSpc>
              <a:spcBef>
                <a:spcPts val="315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41300" algn="l"/>
              </a:tabLst>
            </a:pPr>
            <a:r>
              <a:rPr sz="1600" b="1" dirty="0">
                <a:latin typeface="Times New Roman"/>
                <a:cs typeface="Times New Roman"/>
              </a:rPr>
              <a:t>Influence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Socioeconomic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Status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(SES):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Lower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SES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linked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reduced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expectancy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higher </a:t>
            </a:r>
            <a:r>
              <a:rPr sz="1600" dirty="0">
                <a:latin typeface="Times New Roman"/>
                <a:cs typeface="Times New Roman"/>
              </a:rPr>
              <a:t>mortality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regardless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sex.</a:t>
            </a:r>
            <a:endParaRPr sz="16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1730"/>
              </a:lnSpc>
              <a:spcBef>
                <a:spcPts val="1795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41300" algn="l"/>
              </a:tabLst>
            </a:pPr>
            <a:r>
              <a:rPr sz="1600" b="1" dirty="0">
                <a:latin typeface="Times New Roman"/>
                <a:cs typeface="Times New Roman"/>
              </a:rPr>
              <a:t>Educational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Occupational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Disparities: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Significant disparities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expectancy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associated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levels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education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occupation,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lower </a:t>
            </a:r>
            <a:r>
              <a:rPr sz="1600" dirty="0">
                <a:latin typeface="Times New Roman"/>
                <a:cs typeface="Times New Roman"/>
              </a:rPr>
              <a:t>education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occupations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linked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shorter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life </a:t>
            </a:r>
            <a:r>
              <a:rPr sz="1600" dirty="0">
                <a:latin typeface="Times New Roman"/>
                <a:cs typeface="Times New Roman"/>
              </a:rPr>
              <a:t>spans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(Singh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2020).</a:t>
            </a:r>
            <a:endParaRPr sz="1600">
              <a:latin typeface="Times New Roman"/>
              <a:cs typeface="Times New Roman"/>
            </a:endParaRPr>
          </a:p>
          <a:p>
            <a:pPr marL="241300" marR="160655" indent="-229235">
              <a:lnSpc>
                <a:spcPts val="1730"/>
              </a:lnSpc>
              <a:spcBef>
                <a:spcPts val="1790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41300" algn="l"/>
              </a:tabLst>
            </a:pPr>
            <a:r>
              <a:rPr sz="1600" b="1" dirty="0">
                <a:latin typeface="Times New Roman"/>
                <a:cs typeface="Times New Roman"/>
              </a:rPr>
              <a:t>Economic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Development: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GDP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capita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associated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increased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expectancy,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economic </a:t>
            </a:r>
            <a:r>
              <a:rPr sz="1600" dirty="0">
                <a:latin typeface="Times New Roman"/>
                <a:cs typeface="Times New Roman"/>
              </a:rPr>
              <a:t>growth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resources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nutrition, </a:t>
            </a:r>
            <a:r>
              <a:rPr sz="1600" dirty="0">
                <a:latin typeface="Times New Roman"/>
                <a:cs typeface="Times New Roman"/>
              </a:rPr>
              <a:t>healthcare,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living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conditions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(Freeman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2020; </a:t>
            </a:r>
            <a:r>
              <a:rPr sz="1600" dirty="0">
                <a:latin typeface="Times New Roman"/>
                <a:cs typeface="Times New Roman"/>
              </a:rPr>
              <a:t>Rogoz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10" dirty="0">
                <a:latin typeface="Times New Roman"/>
                <a:cs typeface="Times New Roman"/>
              </a:rPr>
              <a:t> 2022).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5563" y="-882"/>
            <a:ext cx="56764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5822" y="162299"/>
            <a:ext cx="4530725" cy="9525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dirty="0"/>
              <a:t>RESEARCH</a:t>
            </a:r>
            <a:r>
              <a:rPr sz="3200" spc="-180" dirty="0"/>
              <a:t> </a:t>
            </a:r>
            <a:r>
              <a:rPr sz="3200" spc="-10" dirty="0"/>
              <a:t>QUESTION &amp;HYPOTHESIS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699" y="-882"/>
            <a:ext cx="5962301" cy="685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0832" y="1266683"/>
            <a:ext cx="5322570" cy="475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ts val="1530"/>
              </a:lnSpc>
              <a:spcBef>
                <a:spcPts val="10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Research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Question1: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health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indicators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and</a:t>
            </a:r>
            <a:endParaRPr sz="1500">
              <a:latin typeface="Times New Roman"/>
              <a:cs typeface="Times New Roman"/>
            </a:endParaRPr>
          </a:p>
          <a:p>
            <a:pPr marL="241300" marR="5080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Times New Roman"/>
                <a:cs typeface="Times New Roman"/>
              </a:rPr>
              <a:t>socio-economic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factors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significantly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influence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life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expectancy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different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countries?</a:t>
            </a:r>
            <a:endParaRPr sz="1500">
              <a:latin typeface="Times New Roman"/>
              <a:cs typeface="Times New Roman"/>
            </a:endParaRPr>
          </a:p>
          <a:p>
            <a:pPr marL="241935" indent="-229235">
              <a:lnSpc>
                <a:spcPts val="1530"/>
              </a:lnSpc>
              <a:spcBef>
                <a:spcPts val="126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Null</a:t>
            </a:r>
            <a:r>
              <a:rPr sz="1500" b="1" spc="-10" dirty="0">
                <a:latin typeface="Times New Roman"/>
                <a:cs typeface="Times New Roman"/>
              </a:rPr>
              <a:t> Hypothesis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(H0):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health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indicators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socio-</a:t>
            </a:r>
            <a:r>
              <a:rPr sz="1500" spc="-10" dirty="0">
                <a:latin typeface="Times New Roman"/>
                <a:cs typeface="Times New Roman"/>
              </a:rPr>
              <a:t>economic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260"/>
              </a:lnSpc>
            </a:pPr>
            <a:r>
              <a:rPr sz="1500" dirty="0">
                <a:latin typeface="Times New Roman"/>
                <a:cs typeface="Times New Roman"/>
              </a:rPr>
              <a:t>factors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(such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adult</a:t>
            </a:r>
            <a:r>
              <a:rPr sz="1500" spc="-10" dirty="0">
                <a:latin typeface="Times New Roman"/>
                <a:cs typeface="Times New Roman"/>
              </a:rPr>
              <a:t> mortality, </a:t>
            </a:r>
            <a:r>
              <a:rPr sz="1500" dirty="0">
                <a:latin typeface="Times New Roman"/>
                <a:cs typeface="Times New Roman"/>
              </a:rPr>
              <a:t>infant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deaths,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health</a:t>
            </a:r>
            <a:r>
              <a:rPr sz="1500" spc="-10" dirty="0">
                <a:latin typeface="Times New Roman"/>
                <a:cs typeface="Times New Roman"/>
              </a:rPr>
              <a:t> expenditure,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260"/>
              </a:lnSpc>
            </a:pPr>
            <a:r>
              <a:rPr sz="1500" dirty="0">
                <a:latin typeface="Times New Roman"/>
                <a:cs typeface="Times New Roman"/>
              </a:rPr>
              <a:t>Hepatitis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coverage, </a:t>
            </a:r>
            <a:r>
              <a:rPr sz="1500" spc="-10" dirty="0">
                <a:latin typeface="Times New Roman"/>
                <a:cs typeface="Times New Roman"/>
              </a:rPr>
              <a:t>under-</a:t>
            </a:r>
            <a:r>
              <a:rPr sz="1500" dirty="0">
                <a:latin typeface="Times New Roman"/>
                <a:cs typeface="Times New Roman"/>
              </a:rPr>
              <a:t>five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deaths, Diphtheria </a:t>
            </a:r>
            <a:r>
              <a:rPr sz="1500" spc="-10" dirty="0">
                <a:latin typeface="Times New Roman"/>
                <a:cs typeface="Times New Roman"/>
              </a:rPr>
              <a:t>immunization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260"/>
              </a:lnSpc>
            </a:pPr>
            <a:r>
              <a:rPr sz="1500" dirty="0">
                <a:latin typeface="Times New Roman"/>
                <a:cs typeface="Times New Roman"/>
              </a:rPr>
              <a:t>coverage,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HIV/AIDS </a:t>
            </a:r>
            <a:r>
              <a:rPr sz="1500" dirty="0">
                <a:latin typeface="Times New Roman"/>
                <a:cs typeface="Times New Roman"/>
              </a:rPr>
              <a:t>prevalence,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income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composition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of</a:t>
            </a:r>
            <a:endParaRPr sz="1500">
              <a:latin typeface="Times New Roman"/>
              <a:cs typeface="Times New Roman"/>
            </a:endParaRPr>
          </a:p>
          <a:p>
            <a:pPr marL="241300" marR="475615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Times New Roman"/>
                <a:cs typeface="Times New Roman"/>
              </a:rPr>
              <a:t>resources,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thinness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children aged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5-</a:t>
            </a:r>
            <a:r>
              <a:rPr sz="1500" dirty="0">
                <a:latin typeface="Times New Roman"/>
                <a:cs typeface="Times New Roman"/>
              </a:rPr>
              <a:t>9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years) do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 </a:t>
            </a:r>
            <a:r>
              <a:rPr sz="1500" spc="-50" dirty="0">
                <a:latin typeface="Times New Roman"/>
                <a:cs typeface="Times New Roman"/>
              </a:rPr>
              <a:t>a </a:t>
            </a:r>
            <a:r>
              <a:rPr sz="1500" dirty="0">
                <a:latin typeface="Times New Roman"/>
                <a:cs typeface="Times New Roman"/>
              </a:rPr>
              <a:t>significant impact on life </a:t>
            </a:r>
            <a:r>
              <a:rPr sz="1500" spc="-10" dirty="0">
                <a:latin typeface="Times New Roman"/>
                <a:cs typeface="Times New Roman"/>
              </a:rPr>
              <a:t>expectancy.</a:t>
            </a:r>
            <a:endParaRPr sz="1500">
              <a:latin typeface="Times New Roman"/>
              <a:cs typeface="Times New Roman"/>
            </a:endParaRPr>
          </a:p>
          <a:p>
            <a:pPr marL="241935" indent="-229235">
              <a:lnSpc>
                <a:spcPts val="1530"/>
              </a:lnSpc>
              <a:spcBef>
                <a:spcPts val="126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Alternative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Hypothesis </a:t>
            </a:r>
            <a:r>
              <a:rPr sz="1500" b="1" dirty="0">
                <a:latin typeface="Times New Roman"/>
                <a:cs typeface="Times New Roman"/>
              </a:rPr>
              <a:t>(Ha):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 least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health</a:t>
            </a:r>
            <a:endParaRPr sz="1500">
              <a:latin typeface="Times New Roman"/>
              <a:cs typeface="Times New Roman"/>
            </a:endParaRPr>
          </a:p>
          <a:p>
            <a:pPr marL="241300" marR="89535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Times New Roman"/>
                <a:cs typeface="Times New Roman"/>
              </a:rPr>
              <a:t>indicators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socio-economic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factors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significant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impact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on </a:t>
            </a:r>
            <a:r>
              <a:rPr sz="1500" dirty="0">
                <a:latin typeface="Times New Roman"/>
                <a:cs typeface="Times New Roman"/>
              </a:rPr>
              <a:t>life </a:t>
            </a:r>
            <a:r>
              <a:rPr sz="1500" spc="-10" dirty="0">
                <a:latin typeface="Times New Roman"/>
                <a:cs typeface="Times New Roman"/>
              </a:rPr>
              <a:t>expectancy.</a:t>
            </a:r>
            <a:endParaRPr sz="1500">
              <a:latin typeface="Times New Roman"/>
              <a:cs typeface="Times New Roman"/>
            </a:endParaRPr>
          </a:p>
          <a:p>
            <a:pPr marL="241935" indent="-229235">
              <a:lnSpc>
                <a:spcPts val="1530"/>
              </a:lnSpc>
              <a:spcBef>
                <a:spcPts val="126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Research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Question2: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How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education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impact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life</a:t>
            </a:r>
            <a:endParaRPr sz="1500">
              <a:latin typeface="Times New Roman"/>
              <a:cs typeface="Times New Roman"/>
            </a:endParaRPr>
          </a:p>
          <a:p>
            <a:pPr marL="241300" marR="497205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Times New Roman"/>
                <a:cs typeface="Times New Roman"/>
              </a:rPr>
              <a:t>expectancy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economic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status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health indicators?</a:t>
            </a:r>
            <a:endParaRPr sz="1500">
              <a:latin typeface="Times New Roman"/>
              <a:cs typeface="Times New Roman"/>
            </a:endParaRPr>
          </a:p>
          <a:p>
            <a:pPr marL="241935" indent="-229235">
              <a:lnSpc>
                <a:spcPts val="1530"/>
              </a:lnSpc>
              <a:spcBef>
                <a:spcPts val="126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Null</a:t>
            </a:r>
            <a:r>
              <a:rPr sz="1500" b="1" spc="-10" dirty="0">
                <a:latin typeface="Times New Roman"/>
                <a:cs typeface="Times New Roman"/>
              </a:rPr>
              <a:t> Hypothesis </a:t>
            </a:r>
            <a:r>
              <a:rPr sz="1500" b="1" dirty="0">
                <a:latin typeface="Times New Roman"/>
                <a:cs typeface="Times New Roman"/>
              </a:rPr>
              <a:t>(H0):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education,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represented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by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260"/>
              </a:lnSpc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"Schooling"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variable,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significant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impact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on</a:t>
            </a:r>
            <a:endParaRPr sz="1500">
              <a:latin typeface="Times New Roman"/>
              <a:cs typeface="Times New Roman"/>
            </a:endParaRPr>
          </a:p>
          <a:p>
            <a:pPr marL="241300" marR="259079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Times New Roman"/>
                <a:cs typeface="Times New Roman"/>
              </a:rPr>
              <a:t>life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expectancy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after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accounting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economic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health indicators.</a:t>
            </a:r>
            <a:endParaRPr sz="1500">
              <a:latin typeface="Times New Roman"/>
              <a:cs typeface="Times New Roman"/>
            </a:endParaRPr>
          </a:p>
          <a:p>
            <a:pPr marL="241935" indent="-229235">
              <a:lnSpc>
                <a:spcPts val="1530"/>
              </a:lnSpc>
              <a:spcBef>
                <a:spcPts val="1260"/>
              </a:spcBef>
              <a:buClr>
                <a:srgbClr val="1F4E79"/>
              </a:buClr>
              <a:buSzPct val="83333"/>
              <a:buFont typeface="Arial MT"/>
              <a:buChar char="•"/>
              <a:tabLst>
                <a:tab pos="241935" algn="l"/>
              </a:tabLst>
            </a:pPr>
            <a:r>
              <a:rPr sz="1500" b="1" dirty="0">
                <a:latin typeface="Times New Roman"/>
                <a:cs typeface="Times New Roman"/>
              </a:rPr>
              <a:t>Alternative</a:t>
            </a:r>
            <a:r>
              <a:rPr sz="1500" b="1" spc="-10" dirty="0">
                <a:latin typeface="Times New Roman"/>
                <a:cs typeface="Times New Roman"/>
              </a:rPr>
              <a:t> Hypothesis </a:t>
            </a:r>
            <a:r>
              <a:rPr sz="1500" b="1" dirty="0">
                <a:latin typeface="Times New Roman"/>
                <a:cs typeface="Times New Roman"/>
              </a:rPr>
              <a:t>(Ha):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education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260"/>
              </a:lnSpc>
            </a:pPr>
            <a:r>
              <a:rPr sz="1500" dirty="0">
                <a:latin typeface="Times New Roman"/>
                <a:cs typeface="Times New Roman"/>
              </a:rPr>
              <a:t>significant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impact on life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expectancy,</a:t>
            </a:r>
            <a:r>
              <a:rPr sz="1500" dirty="0">
                <a:latin typeface="Times New Roman"/>
                <a:cs typeface="Times New Roman"/>
              </a:rPr>
              <a:t> even after controlling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for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530"/>
              </a:lnSpc>
            </a:pPr>
            <a:r>
              <a:rPr sz="1500" dirty="0">
                <a:latin typeface="Times New Roman"/>
                <a:cs typeface="Times New Roman"/>
              </a:rPr>
              <a:t>economic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health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indicators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81362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3131" y="393280"/>
            <a:ext cx="2207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DATA</a:t>
            </a:r>
            <a:r>
              <a:rPr spc="-195" dirty="0"/>
              <a:t> </a:t>
            </a:r>
            <a:r>
              <a:rPr spc="-25" dirty="0"/>
              <a:t>SET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7341" y="1547975"/>
            <a:ext cx="5640269" cy="37620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3372" y="1146656"/>
            <a:ext cx="4991735" cy="50317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8450" marR="63500" indent="-286385">
              <a:lnSpc>
                <a:spcPts val="1730"/>
              </a:lnSpc>
              <a:spcBef>
                <a:spcPts val="315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Our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uncovers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determinants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expectancy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global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health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2000-2015.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rigorous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aim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understand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health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indicators, </a:t>
            </a:r>
            <a:r>
              <a:rPr sz="1600" dirty="0">
                <a:latin typeface="Times New Roman"/>
                <a:cs typeface="Times New Roman"/>
              </a:rPr>
              <a:t>economic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status,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education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impact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life </a:t>
            </a:r>
            <a:r>
              <a:rPr sz="1600" spc="-10" dirty="0">
                <a:latin typeface="Times New Roman"/>
                <a:cs typeface="Times New Roman"/>
              </a:rPr>
              <a:t>expectancy.</a:t>
            </a:r>
            <a:endParaRPr sz="1600">
              <a:latin typeface="Times New Roman"/>
              <a:cs typeface="Times New Roman"/>
            </a:endParaRPr>
          </a:p>
          <a:p>
            <a:pPr marL="298450" marR="131445" indent="-286385">
              <a:lnSpc>
                <a:spcPts val="1730"/>
              </a:lnSpc>
              <a:spcBef>
                <a:spcPts val="585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spans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2000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2015,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covering</a:t>
            </a:r>
            <a:r>
              <a:rPr sz="1600" spc="-25" dirty="0">
                <a:latin typeface="Times New Roman"/>
                <a:cs typeface="Times New Roman"/>
              </a:rPr>
              <a:t> 193 </a:t>
            </a:r>
            <a:r>
              <a:rPr sz="1600" dirty="0">
                <a:latin typeface="Times New Roman"/>
                <a:cs typeface="Times New Roman"/>
              </a:rPr>
              <a:t>countries,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variables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life </a:t>
            </a:r>
            <a:r>
              <a:rPr sz="1600" dirty="0">
                <a:latin typeface="Times New Roman"/>
                <a:cs typeface="Times New Roman"/>
              </a:rPr>
              <a:t>expectancy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various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health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obtained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WHO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Global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Health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Observatory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repository.</a:t>
            </a:r>
            <a:endParaRPr sz="1600">
              <a:latin typeface="Times New Roman"/>
              <a:cs typeface="Times New Roman"/>
            </a:endParaRPr>
          </a:p>
          <a:p>
            <a:pPr marL="298450" marR="5080" indent="-286385">
              <a:lnSpc>
                <a:spcPts val="1730"/>
              </a:lnSpc>
              <a:spcBef>
                <a:spcPts val="595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Economic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United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Nations </a:t>
            </a:r>
            <a:r>
              <a:rPr sz="1600" dirty="0">
                <a:latin typeface="Times New Roman"/>
                <a:cs typeface="Times New Roman"/>
              </a:rPr>
              <a:t>website.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comprehensive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allows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detailed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trends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influencing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expectancy </a:t>
            </a:r>
            <a:r>
              <a:rPr sz="1600" dirty="0">
                <a:latin typeface="Times New Roman"/>
                <a:cs typeface="Times New Roman"/>
              </a:rPr>
              <a:t>over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period.</a:t>
            </a:r>
            <a:endParaRPr sz="1600">
              <a:latin typeface="Times New Roman"/>
              <a:cs typeface="Times New Roman"/>
            </a:endParaRPr>
          </a:p>
          <a:p>
            <a:pPr marL="298450" marR="29209" indent="-286385">
              <a:lnSpc>
                <a:spcPts val="1730"/>
              </a:lnSpc>
              <a:spcBef>
                <a:spcPts val="590"/>
              </a:spcBef>
              <a:buClr>
                <a:srgbClr val="1F4E79"/>
              </a:buClr>
              <a:buSzPct val="81250"/>
              <a:buFont typeface="Arial MT"/>
              <a:buChar char="•"/>
              <a:tabLst>
                <a:tab pos="298450" algn="l"/>
              </a:tabLst>
            </a:pP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Kaggle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.The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modelling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comprises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2938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rows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22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columns,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20 </a:t>
            </a:r>
            <a:r>
              <a:rPr sz="1600" dirty="0">
                <a:latin typeface="Times New Roman"/>
                <a:cs typeface="Times New Roman"/>
              </a:rPr>
              <a:t>predictor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variables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categorized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immunization, mortality,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economic,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social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factors.</a:t>
            </a:r>
            <a:endParaRPr sz="1600">
              <a:latin typeface="Times New Roman"/>
              <a:cs typeface="Times New Roman"/>
            </a:endParaRPr>
          </a:p>
          <a:p>
            <a:pPr marL="12700" marR="774700">
              <a:lnSpc>
                <a:spcPct val="100000"/>
              </a:lnSpc>
              <a:spcBef>
                <a:spcPts val="530"/>
              </a:spcBef>
            </a:pPr>
            <a:r>
              <a:rPr sz="1600" b="1" spc="-10" dirty="0">
                <a:latin typeface="Times New Roman"/>
                <a:cs typeface="Times New Roman"/>
              </a:rPr>
              <a:t>Link: </a:t>
            </a:r>
            <a:r>
              <a:rPr sz="16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  <a:hlinkClick r:id="rId5"/>
              </a:rPr>
              <a:t>https://www.kaggle.com/datasets/kumarajarshi/life-</a:t>
            </a:r>
            <a:r>
              <a:rPr sz="1600" spc="-1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  <a:hlinkClick r:id="rId5"/>
              </a:rPr>
              <a:t>expectancy-</a:t>
            </a:r>
            <a:r>
              <a:rPr sz="16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  <a:hlinkClick r:id="rId5"/>
              </a:rPr>
              <a:t>who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81362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3131" y="519463"/>
            <a:ext cx="1423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646102" y="852355"/>
            <a:ext cx="5794375" cy="5290820"/>
            <a:chOff x="5646102" y="852355"/>
            <a:chExt cx="5794375" cy="5290820"/>
          </a:xfrm>
        </p:grpSpPr>
        <p:sp>
          <p:nvSpPr>
            <p:cNvPr id="6" name="object 6"/>
            <p:cNvSpPr/>
            <p:nvPr/>
          </p:nvSpPr>
          <p:spPr>
            <a:xfrm>
              <a:off x="5651500" y="926306"/>
              <a:ext cx="1094740" cy="5211445"/>
            </a:xfrm>
            <a:custGeom>
              <a:avLst/>
              <a:gdLst/>
              <a:ahLst/>
              <a:cxnLst/>
              <a:rect l="l" t="t" r="r" b="b"/>
              <a:pathLst>
                <a:path w="1094740" h="5211445">
                  <a:moveTo>
                    <a:pt x="15081" y="0"/>
                  </a:moveTo>
                  <a:lnTo>
                    <a:pt x="146050" y="137318"/>
                  </a:lnTo>
                  <a:lnTo>
                    <a:pt x="268287" y="280193"/>
                  </a:lnTo>
                  <a:lnTo>
                    <a:pt x="381793" y="427037"/>
                  </a:lnTo>
                  <a:lnTo>
                    <a:pt x="487362" y="577850"/>
                  </a:lnTo>
                  <a:lnTo>
                    <a:pt x="584200" y="733425"/>
                  </a:lnTo>
                  <a:lnTo>
                    <a:pt x="673100" y="892175"/>
                  </a:lnTo>
                  <a:lnTo>
                    <a:pt x="753268" y="1054100"/>
                  </a:lnTo>
                  <a:lnTo>
                    <a:pt x="824706" y="1219200"/>
                  </a:lnTo>
                  <a:lnTo>
                    <a:pt x="887412" y="1386681"/>
                  </a:lnTo>
                  <a:lnTo>
                    <a:pt x="942975" y="1556543"/>
                  </a:lnTo>
                  <a:lnTo>
                    <a:pt x="989012" y="1727993"/>
                  </a:lnTo>
                  <a:lnTo>
                    <a:pt x="1027112" y="1901825"/>
                  </a:lnTo>
                  <a:lnTo>
                    <a:pt x="1056481" y="2076450"/>
                  </a:lnTo>
                  <a:lnTo>
                    <a:pt x="1077912" y="2252662"/>
                  </a:lnTo>
                  <a:lnTo>
                    <a:pt x="1089818" y="2428875"/>
                  </a:lnTo>
                  <a:lnTo>
                    <a:pt x="1094581" y="2605881"/>
                  </a:lnTo>
                  <a:lnTo>
                    <a:pt x="1089818" y="2782093"/>
                  </a:lnTo>
                  <a:lnTo>
                    <a:pt x="1077912" y="2958306"/>
                  </a:lnTo>
                  <a:lnTo>
                    <a:pt x="1056481" y="3134518"/>
                  </a:lnTo>
                  <a:lnTo>
                    <a:pt x="1027112" y="3309143"/>
                  </a:lnTo>
                  <a:lnTo>
                    <a:pt x="989012" y="3482975"/>
                  </a:lnTo>
                  <a:lnTo>
                    <a:pt x="942975" y="3654425"/>
                  </a:lnTo>
                  <a:lnTo>
                    <a:pt x="887412" y="3824287"/>
                  </a:lnTo>
                  <a:lnTo>
                    <a:pt x="824706" y="3991768"/>
                  </a:lnTo>
                  <a:lnTo>
                    <a:pt x="753268" y="4156868"/>
                  </a:lnTo>
                  <a:lnTo>
                    <a:pt x="673100" y="4318793"/>
                  </a:lnTo>
                  <a:lnTo>
                    <a:pt x="584200" y="4477543"/>
                  </a:lnTo>
                  <a:lnTo>
                    <a:pt x="487362" y="4633118"/>
                  </a:lnTo>
                  <a:lnTo>
                    <a:pt x="381793" y="4783931"/>
                  </a:lnTo>
                  <a:lnTo>
                    <a:pt x="268287" y="4930775"/>
                  </a:lnTo>
                  <a:lnTo>
                    <a:pt x="146050" y="5073650"/>
                  </a:lnTo>
                  <a:lnTo>
                    <a:pt x="15081" y="5210968"/>
                  </a:lnTo>
                  <a:lnTo>
                    <a:pt x="0" y="5195093"/>
                  </a:lnTo>
                  <a:lnTo>
                    <a:pt x="130175" y="5058568"/>
                  </a:lnTo>
                  <a:lnTo>
                    <a:pt x="251618" y="4917281"/>
                  </a:lnTo>
                  <a:lnTo>
                    <a:pt x="364331" y="4771231"/>
                  </a:lnTo>
                  <a:lnTo>
                    <a:pt x="469106" y="4620418"/>
                  </a:lnTo>
                  <a:lnTo>
                    <a:pt x="565943" y="4466431"/>
                  </a:lnTo>
                  <a:lnTo>
                    <a:pt x="654050" y="4308475"/>
                  </a:lnTo>
                  <a:lnTo>
                    <a:pt x="733425" y="4147343"/>
                  </a:lnTo>
                  <a:lnTo>
                    <a:pt x="804862" y="3983831"/>
                  </a:lnTo>
                  <a:lnTo>
                    <a:pt x="867568" y="3817143"/>
                  </a:lnTo>
                  <a:lnTo>
                    <a:pt x="921543" y="3648075"/>
                  </a:lnTo>
                  <a:lnTo>
                    <a:pt x="968375" y="3477418"/>
                  </a:lnTo>
                  <a:lnTo>
                    <a:pt x="1005681" y="3304381"/>
                  </a:lnTo>
                  <a:lnTo>
                    <a:pt x="1035050" y="3130550"/>
                  </a:lnTo>
                  <a:lnTo>
                    <a:pt x="1055687" y="2955925"/>
                  </a:lnTo>
                  <a:lnTo>
                    <a:pt x="1068387" y="2780506"/>
                  </a:lnTo>
                  <a:lnTo>
                    <a:pt x="1073150" y="2605087"/>
                  </a:lnTo>
                  <a:lnTo>
                    <a:pt x="1068387" y="2429668"/>
                  </a:lnTo>
                  <a:lnTo>
                    <a:pt x="1055687" y="2254250"/>
                  </a:lnTo>
                  <a:lnTo>
                    <a:pt x="1035050" y="2079625"/>
                  </a:lnTo>
                  <a:lnTo>
                    <a:pt x="1005681" y="1905793"/>
                  </a:lnTo>
                  <a:lnTo>
                    <a:pt x="968375" y="1732756"/>
                  </a:lnTo>
                  <a:lnTo>
                    <a:pt x="921543" y="1562100"/>
                  </a:lnTo>
                  <a:lnTo>
                    <a:pt x="867568" y="1393031"/>
                  </a:lnTo>
                  <a:lnTo>
                    <a:pt x="804862" y="1227137"/>
                  </a:lnTo>
                  <a:lnTo>
                    <a:pt x="733425" y="1062831"/>
                  </a:lnTo>
                  <a:lnTo>
                    <a:pt x="654050" y="901700"/>
                  </a:lnTo>
                  <a:lnTo>
                    <a:pt x="565943" y="743743"/>
                  </a:lnTo>
                  <a:lnTo>
                    <a:pt x="469106" y="589756"/>
                  </a:lnTo>
                  <a:lnTo>
                    <a:pt x="364331" y="438943"/>
                  </a:lnTo>
                  <a:lnTo>
                    <a:pt x="251618" y="292893"/>
                  </a:lnTo>
                  <a:lnTo>
                    <a:pt x="130175" y="151606"/>
                  </a:lnTo>
                  <a:lnTo>
                    <a:pt x="0" y="15081"/>
                  </a:lnTo>
                  <a:lnTo>
                    <a:pt x="15081" y="0"/>
                  </a:lnTo>
                  <a:close/>
                </a:path>
              </a:pathLst>
            </a:custGeom>
            <a:ln w="10795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46523" y="857753"/>
              <a:ext cx="5488305" cy="497840"/>
            </a:xfrm>
            <a:custGeom>
              <a:avLst/>
              <a:gdLst/>
              <a:ahLst/>
              <a:cxnLst/>
              <a:rect l="l" t="t" r="r" b="b"/>
              <a:pathLst>
                <a:path w="5488305" h="497840">
                  <a:moveTo>
                    <a:pt x="5487995" y="497557"/>
                  </a:moveTo>
                  <a:lnTo>
                    <a:pt x="0" y="497557"/>
                  </a:lnTo>
                  <a:lnTo>
                    <a:pt x="0" y="0"/>
                  </a:lnTo>
                  <a:lnTo>
                    <a:pt x="5487995" y="0"/>
                  </a:lnTo>
                  <a:lnTo>
                    <a:pt x="5487995" y="497557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46523" y="857753"/>
              <a:ext cx="5488305" cy="497840"/>
            </a:xfrm>
            <a:custGeom>
              <a:avLst/>
              <a:gdLst/>
              <a:ahLst/>
              <a:cxnLst/>
              <a:rect l="l" t="t" r="r" b="b"/>
              <a:pathLst>
                <a:path w="5488305" h="497840">
                  <a:moveTo>
                    <a:pt x="0" y="0"/>
                  </a:moveTo>
                  <a:lnTo>
                    <a:pt x="5487995" y="0"/>
                  </a:lnTo>
                  <a:lnTo>
                    <a:pt x="5487995" y="497557"/>
                  </a:lnTo>
                  <a:lnTo>
                    <a:pt x="0" y="497557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28759" y="859125"/>
            <a:ext cx="20618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Collection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0227" y="790733"/>
            <a:ext cx="5810250" cy="5049520"/>
            <a:chOff x="5630227" y="790733"/>
            <a:chExt cx="5810250" cy="5049520"/>
          </a:xfrm>
        </p:grpSpPr>
        <p:sp>
          <p:nvSpPr>
            <p:cNvPr id="11" name="object 11"/>
            <p:cNvSpPr/>
            <p:nvPr/>
          </p:nvSpPr>
          <p:spPr>
            <a:xfrm>
              <a:off x="5635549" y="795558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6"/>
                  </a:moveTo>
                  <a:lnTo>
                    <a:pt x="265019" y="618575"/>
                  </a:lnTo>
                  <a:lnTo>
                    <a:pt x="221159" y="608780"/>
                  </a:lnTo>
                  <a:lnTo>
                    <a:pt x="179874" y="593044"/>
                  </a:lnTo>
                  <a:lnTo>
                    <a:pt x="141644" y="571847"/>
                  </a:lnTo>
                  <a:lnTo>
                    <a:pt x="106951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2"/>
                  </a:lnTo>
                  <a:lnTo>
                    <a:pt x="13165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6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4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6" y="310973"/>
                  </a:lnTo>
                  <a:lnTo>
                    <a:pt x="618574" y="356926"/>
                  </a:lnTo>
                  <a:lnTo>
                    <a:pt x="608780" y="400786"/>
                  </a:lnTo>
                  <a:lnTo>
                    <a:pt x="593043" y="442072"/>
                  </a:lnTo>
                  <a:lnTo>
                    <a:pt x="571846" y="480301"/>
                  </a:lnTo>
                  <a:lnTo>
                    <a:pt x="545670" y="514994"/>
                  </a:lnTo>
                  <a:lnTo>
                    <a:pt x="514994" y="545670"/>
                  </a:lnTo>
                  <a:lnTo>
                    <a:pt x="480301" y="571847"/>
                  </a:lnTo>
                  <a:lnTo>
                    <a:pt x="442071" y="593044"/>
                  </a:lnTo>
                  <a:lnTo>
                    <a:pt x="400786" y="608780"/>
                  </a:lnTo>
                  <a:lnTo>
                    <a:pt x="356926" y="618575"/>
                  </a:lnTo>
                  <a:lnTo>
                    <a:pt x="310973" y="621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35625" y="796131"/>
              <a:ext cx="622300" cy="621665"/>
            </a:xfrm>
            <a:custGeom>
              <a:avLst/>
              <a:gdLst/>
              <a:ahLst/>
              <a:cxnLst/>
              <a:rect l="l" t="t" r="r" b="b"/>
              <a:pathLst>
                <a:path w="622300" h="621665">
                  <a:moveTo>
                    <a:pt x="0" y="311150"/>
                  </a:moveTo>
                  <a:lnTo>
                    <a:pt x="6350" y="248443"/>
                  </a:lnTo>
                  <a:lnTo>
                    <a:pt x="24606" y="189706"/>
                  </a:lnTo>
                  <a:lnTo>
                    <a:pt x="53181" y="137318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90500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2593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7318"/>
                  </a:lnTo>
                  <a:lnTo>
                    <a:pt x="597693" y="189706"/>
                  </a:lnTo>
                  <a:lnTo>
                    <a:pt x="615950" y="248443"/>
                  </a:lnTo>
                  <a:lnTo>
                    <a:pt x="622300" y="311150"/>
                  </a:lnTo>
                  <a:lnTo>
                    <a:pt x="615950" y="373856"/>
                  </a:lnTo>
                  <a:lnTo>
                    <a:pt x="597693" y="431800"/>
                  </a:lnTo>
                  <a:lnTo>
                    <a:pt x="569118" y="484981"/>
                  </a:lnTo>
                  <a:lnTo>
                    <a:pt x="531018" y="531018"/>
                  </a:lnTo>
                  <a:lnTo>
                    <a:pt x="484981" y="568325"/>
                  </a:lnTo>
                  <a:lnTo>
                    <a:pt x="432593" y="596900"/>
                  </a:lnTo>
                  <a:lnTo>
                    <a:pt x="373856" y="615156"/>
                  </a:lnTo>
                  <a:lnTo>
                    <a:pt x="311150" y="621506"/>
                  </a:lnTo>
                  <a:lnTo>
                    <a:pt x="248443" y="615156"/>
                  </a:lnTo>
                  <a:lnTo>
                    <a:pt x="190500" y="596900"/>
                  </a:lnTo>
                  <a:lnTo>
                    <a:pt x="137318" y="568325"/>
                  </a:lnTo>
                  <a:lnTo>
                    <a:pt x="91281" y="531018"/>
                  </a:lnTo>
                  <a:lnTo>
                    <a:pt x="53181" y="484981"/>
                  </a:lnTo>
                  <a:lnTo>
                    <a:pt x="24606" y="431800"/>
                  </a:lnTo>
                  <a:lnTo>
                    <a:pt x="6350" y="373856"/>
                  </a:lnTo>
                  <a:lnTo>
                    <a:pt x="0" y="311150"/>
                  </a:lnTo>
                  <a:close/>
                </a:path>
              </a:pathLst>
            </a:custGeom>
            <a:ln w="107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7106" y="1604527"/>
              <a:ext cx="5037455" cy="497840"/>
            </a:xfrm>
            <a:custGeom>
              <a:avLst/>
              <a:gdLst/>
              <a:ahLst/>
              <a:cxnLst/>
              <a:rect l="l" t="t" r="r" b="b"/>
              <a:pathLst>
                <a:path w="5037455" h="497839">
                  <a:moveTo>
                    <a:pt x="5037411" y="497556"/>
                  </a:moveTo>
                  <a:lnTo>
                    <a:pt x="0" y="497556"/>
                  </a:lnTo>
                  <a:lnTo>
                    <a:pt x="0" y="0"/>
                  </a:lnTo>
                  <a:lnTo>
                    <a:pt x="5037411" y="0"/>
                  </a:lnTo>
                  <a:lnTo>
                    <a:pt x="5037411" y="497556"/>
                  </a:lnTo>
                  <a:close/>
                </a:path>
              </a:pathLst>
            </a:custGeom>
            <a:solidFill>
              <a:srgbClr val="DE7A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7106" y="1604527"/>
              <a:ext cx="5037455" cy="497840"/>
            </a:xfrm>
            <a:custGeom>
              <a:avLst/>
              <a:gdLst/>
              <a:ahLst/>
              <a:cxnLst/>
              <a:rect l="l" t="t" r="r" b="b"/>
              <a:pathLst>
                <a:path w="5037455" h="497839">
                  <a:moveTo>
                    <a:pt x="0" y="0"/>
                  </a:moveTo>
                  <a:lnTo>
                    <a:pt x="5037411" y="0"/>
                  </a:lnTo>
                  <a:lnTo>
                    <a:pt x="5037411" y="497556"/>
                  </a:lnTo>
                  <a:lnTo>
                    <a:pt x="0" y="497556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86133" y="1542333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7"/>
                  </a:moveTo>
                  <a:lnTo>
                    <a:pt x="265020" y="618575"/>
                  </a:lnTo>
                  <a:lnTo>
                    <a:pt x="221160" y="608780"/>
                  </a:lnTo>
                  <a:lnTo>
                    <a:pt x="179874" y="593044"/>
                  </a:lnTo>
                  <a:lnTo>
                    <a:pt x="141645" y="571847"/>
                  </a:lnTo>
                  <a:lnTo>
                    <a:pt x="106951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2"/>
                  </a:lnTo>
                  <a:lnTo>
                    <a:pt x="13166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6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5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7" y="310973"/>
                  </a:lnTo>
                  <a:lnTo>
                    <a:pt x="618575" y="356926"/>
                  </a:lnTo>
                  <a:lnTo>
                    <a:pt x="608780" y="400786"/>
                  </a:lnTo>
                  <a:lnTo>
                    <a:pt x="593044" y="442072"/>
                  </a:lnTo>
                  <a:lnTo>
                    <a:pt x="571847" y="480301"/>
                  </a:lnTo>
                  <a:lnTo>
                    <a:pt x="545670" y="514994"/>
                  </a:lnTo>
                  <a:lnTo>
                    <a:pt x="514995" y="545670"/>
                  </a:lnTo>
                  <a:lnTo>
                    <a:pt x="480301" y="571847"/>
                  </a:lnTo>
                  <a:lnTo>
                    <a:pt x="442072" y="593044"/>
                  </a:lnTo>
                  <a:lnTo>
                    <a:pt x="400786" y="608780"/>
                  </a:lnTo>
                  <a:lnTo>
                    <a:pt x="356926" y="618575"/>
                  </a:lnTo>
                  <a:lnTo>
                    <a:pt x="310973" y="621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86475" y="1543050"/>
              <a:ext cx="622300" cy="621665"/>
            </a:xfrm>
            <a:custGeom>
              <a:avLst/>
              <a:gdLst/>
              <a:ahLst/>
              <a:cxnLst/>
              <a:rect l="l" t="t" r="r" b="b"/>
              <a:pathLst>
                <a:path w="622300" h="621664">
                  <a:moveTo>
                    <a:pt x="0" y="310356"/>
                  </a:moveTo>
                  <a:lnTo>
                    <a:pt x="6350" y="247650"/>
                  </a:lnTo>
                  <a:lnTo>
                    <a:pt x="24606" y="189706"/>
                  </a:lnTo>
                  <a:lnTo>
                    <a:pt x="53181" y="136525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89706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1800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6525"/>
                  </a:lnTo>
                  <a:lnTo>
                    <a:pt x="597693" y="189706"/>
                  </a:lnTo>
                  <a:lnTo>
                    <a:pt x="615950" y="247650"/>
                  </a:lnTo>
                  <a:lnTo>
                    <a:pt x="622300" y="310356"/>
                  </a:lnTo>
                  <a:lnTo>
                    <a:pt x="615950" y="373062"/>
                  </a:lnTo>
                  <a:lnTo>
                    <a:pt x="597693" y="431800"/>
                  </a:lnTo>
                  <a:lnTo>
                    <a:pt x="569118" y="484187"/>
                  </a:lnTo>
                  <a:lnTo>
                    <a:pt x="531018" y="530225"/>
                  </a:lnTo>
                  <a:lnTo>
                    <a:pt x="484981" y="568325"/>
                  </a:lnTo>
                  <a:lnTo>
                    <a:pt x="431800" y="596900"/>
                  </a:lnTo>
                  <a:lnTo>
                    <a:pt x="373856" y="615156"/>
                  </a:lnTo>
                  <a:lnTo>
                    <a:pt x="311150" y="621506"/>
                  </a:lnTo>
                  <a:lnTo>
                    <a:pt x="248443" y="615156"/>
                  </a:lnTo>
                  <a:lnTo>
                    <a:pt x="189706" y="596900"/>
                  </a:lnTo>
                  <a:lnTo>
                    <a:pt x="137318" y="568325"/>
                  </a:lnTo>
                  <a:lnTo>
                    <a:pt x="91281" y="530225"/>
                  </a:lnTo>
                  <a:lnTo>
                    <a:pt x="53181" y="484187"/>
                  </a:lnTo>
                  <a:lnTo>
                    <a:pt x="24606" y="431800"/>
                  </a:lnTo>
                  <a:lnTo>
                    <a:pt x="6350" y="373062"/>
                  </a:lnTo>
                  <a:lnTo>
                    <a:pt x="0" y="310356"/>
                  </a:lnTo>
                  <a:close/>
                </a:path>
              </a:pathLst>
            </a:custGeom>
            <a:ln w="10795">
              <a:solidFill>
                <a:srgbClr val="DE7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44024" y="2350754"/>
              <a:ext cx="4791075" cy="497840"/>
            </a:xfrm>
            <a:custGeom>
              <a:avLst/>
              <a:gdLst/>
              <a:ahLst/>
              <a:cxnLst/>
              <a:rect l="l" t="t" r="r" b="b"/>
              <a:pathLst>
                <a:path w="4791075" h="497839">
                  <a:moveTo>
                    <a:pt x="4790494" y="497557"/>
                  </a:moveTo>
                  <a:lnTo>
                    <a:pt x="0" y="497557"/>
                  </a:lnTo>
                  <a:lnTo>
                    <a:pt x="0" y="0"/>
                  </a:lnTo>
                  <a:lnTo>
                    <a:pt x="4790494" y="0"/>
                  </a:lnTo>
                  <a:lnTo>
                    <a:pt x="4790494" y="497557"/>
                  </a:lnTo>
                  <a:close/>
                </a:path>
              </a:pathLst>
            </a:custGeom>
            <a:solidFill>
              <a:srgbClr val="D17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44024" y="2350754"/>
              <a:ext cx="4791075" cy="497840"/>
            </a:xfrm>
            <a:custGeom>
              <a:avLst/>
              <a:gdLst/>
              <a:ahLst/>
              <a:cxnLst/>
              <a:rect l="l" t="t" r="r" b="b"/>
              <a:pathLst>
                <a:path w="4791075" h="497839">
                  <a:moveTo>
                    <a:pt x="0" y="0"/>
                  </a:moveTo>
                  <a:lnTo>
                    <a:pt x="4790494" y="0"/>
                  </a:lnTo>
                  <a:lnTo>
                    <a:pt x="4790494" y="497557"/>
                  </a:lnTo>
                  <a:lnTo>
                    <a:pt x="0" y="497557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3050" y="228856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7"/>
                  </a:moveTo>
                  <a:lnTo>
                    <a:pt x="265020" y="618575"/>
                  </a:lnTo>
                  <a:lnTo>
                    <a:pt x="221160" y="608780"/>
                  </a:lnTo>
                  <a:lnTo>
                    <a:pt x="179874" y="593044"/>
                  </a:lnTo>
                  <a:lnTo>
                    <a:pt x="141645" y="571847"/>
                  </a:lnTo>
                  <a:lnTo>
                    <a:pt x="106951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2"/>
                  </a:lnTo>
                  <a:lnTo>
                    <a:pt x="13166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7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5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6" y="310973"/>
                  </a:lnTo>
                  <a:lnTo>
                    <a:pt x="618575" y="356926"/>
                  </a:lnTo>
                  <a:lnTo>
                    <a:pt x="608780" y="400786"/>
                  </a:lnTo>
                  <a:lnTo>
                    <a:pt x="593044" y="442072"/>
                  </a:lnTo>
                  <a:lnTo>
                    <a:pt x="571847" y="480301"/>
                  </a:lnTo>
                  <a:lnTo>
                    <a:pt x="545670" y="514994"/>
                  </a:lnTo>
                  <a:lnTo>
                    <a:pt x="514995" y="545670"/>
                  </a:lnTo>
                  <a:lnTo>
                    <a:pt x="480301" y="571847"/>
                  </a:lnTo>
                  <a:lnTo>
                    <a:pt x="442072" y="593044"/>
                  </a:lnTo>
                  <a:lnTo>
                    <a:pt x="400786" y="608780"/>
                  </a:lnTo>
                  <a:lnTo>
                    <a:pt x="356927" y="618575"/>
                  </a:lnTo>
                  <a:lnTo>
                    <a:pt x="310973" y="621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33331" y="2289175"/>
              <a:ext cx="622300" cy="621665"/>
            </a:xfrm>
            <a:custGeom>
              <a:avLst/>
              <a:gdLst/>
              <a:ahLst/>
              <a:cxnLst/>
              <a:rect l="l" t="t" r="r" b="b"/>
              <a:pathLst>
                <a:path w="622300" h="621664">
                  <a:moveTo>
                    <a:pt x="0" y="310356"/>
                  </a:moveTo>
                  <a:lnTo>
                    <a:pt x="6350" y="247650"/>
                  </a:lnTo>
                  <a:lnTo>
                    <a:pt x="24606" y="189706"/>
                  </a:lnTo>
                  <a:lnTo>
                    <a:pt x="53181" y="136525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90500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1800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6525"/>
                  </a:lnTo>
                  <a:lnTo>
                    <a:pt x="597693" y="189706"/>
                  </a:lnTo>
                  <a:lnTo>
                    <a:pt x="615950" y="247650"/>
                  </a:lnTo>
                  <a:lnTo>
                    <a:pt x="622300" y="310356"/>
                  </a:lnTo>
                  <a:lnTo>
                    <a:pt x="615950" y="373062"/>
                  </a:lnTo>
                  <a:lnTo>
                    <a:pt x="597693" y="431800"/>
                  </a:lnTo>
                  <a:lnTo>
                    <a:pt x="569118" y="484187"/>
                  </a:lnTo>
                  <a:lnTo>
                    <a:pt x="531018" y="530225"/>
                  </a:lnTo>
                  <a:lnTo>
                    <a:pt x="484981" y="568325"/>
                  </a:lnTo>
                  <a:lnTo>
                    <a:pt x="431800" y="596900"/>
                  </a:lnTo>
                  <a:lnTo>
                    <a:pt x="373856" y="615156"/>
                  </a:lnTo>
                  <a:lnTo>
                    <a:pt x="311150" y="621506"/>
                  </a:lnTo>
                  <a:lnTo>
                    <a:pt x="248443" y="615156"/>
                  </a:lnTo>
                  <a:lnTo>
                    <a:pt x="190500" y="596900"/>
                  </a:lnTo>
                  <a:lnTo>
                    <a:pt x="137318" y="568325"/>
                  </a:lnTo>
                  <a:lnTo>
                    <a:pt x="91281" y="530225"/>
                  </a:lnTo>
                  <a:lnTo>
                    <a:pt x="53181" y="484187"/>
                  </a:lnTo>
                  <a:lnTo>
                    <a:pt x="24606" y="431800"/>
                  </a:lnTo>
                  <a:lnTo>
                    <a:pt x="6350" y="373062"/>
                  </a:lnTo>
                  <a:lnTo>
                    <a:pt x="0" y="310356"/>
                  </a:lnTo>
                  <a:close/>
                </a:path>
              </a:pathLst>
            </a:custGeom>
            <a:ln w="10795">
              <a:solidFill>
                <a:srgbClr val="D17B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22862" y="3097529"/>
              <a:ext cx="4711700" cy="497840"/>
            </a:xfrm>
            <a:custGeom>
              <a:avLst/>
              <a:gdLst/>
              <a:ahLst/>
              <a:cxnLst/>
              <a:rect l="l" t="t" r="r" b="b"/>
              <a:pathLst>
                <a:path w="4711700" h="497839">
                  <a:moveTo>
                    <a:pt x="4711655" y="497557"/>
                  </a:moveTo>
                  <a:lnTo>
                    <a:pt x="0" y="497557"/>
                  </a:lnTo>
                  <a:lnTo>
                    <a:pt x="0" y="0"/>
                  </a:lnTo>
                  <a:lnTo>
                    <a:pt x="4711655" y="0"/>
                  </a:lnTo>
                  <a:lnTo>
                    <a:pt x="4711655" y="497557"/>
                  </a:lnTo>
                  <a:close/>
                </a:path>
              </a:pathLst>
            </a:custGeom>
            <a:solidFill>
              <a:srgbClr val="C481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22862" y="3097529"/>
              <a:ext cx="4711700" cy="497840"/>
            </a:xfrm>
            <a:custGeom>
              <a:avLst/>
              <a:gdLst/>
              <a:ahLst/>
              <a:cxnLst/>
              <a:rect l="l" t="t" r="r" b="b"/>
              <a:pathLst>
                <a:path w="4711700" h="497839">
                  <a:moveTo>
                    <a:pt x="0" y="0"/>
                  </a:moveTo>
                  <a:lnTo>
                    <a:pt x="4711655" y="0"/>
                  </a:lnTo>
                  <a:lnTo>
                    <a:pt x="4711655" y="497557"/>
                  </a:lnTo>
                  <a:lnTo>
                    <a:pt x="0" y="497557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1889" y="3035333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7"/>
                  </a:moveTo>
                  <a:lnTo>
                    <a:pt x="265020" y="618575"/>
                  </a:lnTo>
                  <a:lnTo>
                    <a:pt x="221160" y="608780"/>
                  </a:lnTo>
                  <a:lnTo>
                    <a:pt x="179874" y="593044"/>
                  </a:lnTo>
                  <a:lnTo>
                    <a:pt x="141645" y="571847"/>
                  </a:lnTo>
                  <a:lnTo>
                    <a:pt x="106952" y="545670"/>
                  </a:lnTo>
                  <a:lnTo>
                    <a:pt x="76276" y="514995"/>
                  </a:lnTo>
                  <a:lnTo>
                    <a:pt x="50099" y="480301"/>
                  </a:lnTo>
                  <a:lnTo>
                    <a:pt x="28902" y="442072"/>
                  </a:lnTo>
                  <a:lnTo>
                    <a:pt x="13166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7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5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6" y="310973"/>
                  </a:lnTo>
                  <a:lnTo>
                    <a:pt x="618575" y="356926"/>
                  </a:lnTo>
                  <a:lnTo>
                    <a:pt x="608780" y="400786"/>
                  </a:lnTo>
                  <a:lnTo>
                    <a:pt x="593044" y="442072"/>
                  </a:lnTo>
                  <a:lnTo>
                    <a:pt x="571847" y="480301"/>
                  </a:lnTo>
                  <a:lnTo>
                    <a:pt x="545670" y="514995"/>
                  </a:lnTo>
                  <a:lnTo>
                    <a:pt x="514995" y="545670"/>
                  </a:lnTo>
                  <a:lnTo>
                    <a:pt x="480301" y="571847"/>
                  </a:lnTo>
                  <a:lnTo>
                    <a:pt x="442072" y="593044"/>
                  </a:lnTo>
                  <a:lnTo>
                    <a:pt x="400786" y="608780"/>
                  </a:lnTo>
                  <a:lnTo>
                    <a:pt x="356927" y="618575"/>
                  </a:lnTo>
                  <a:lnTo>
                    <a:pt x="310973" y="621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1912" y="3036093"/>
              <a:ext cx="622300" cy="621665"/>
            </a:xfrm>
            <a:custGeom>
              <a:avLst/>
              <a:gdLst/>
              <a:ahLst/>
              <a:cxnLst/>
              <a:rect l="l" t="t" r="r" b="b"/>
              <a:pathLst>
                <a:path w="622300" h="621664">
                  <a:moveTo>
                    <a:pt x="0" y="310356"/>
                  </a:moveTo>
                  <a:lnTo>
                    <a:pt x="6350" y="247650"/>
                  </a:lnTo>
                  <a:lnTo>
                    <a:pt x="24606" y="189706"/>
                  </a:lnTo>
                  <a:lnTo>
                    <a:pt x="53181" y="136525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90500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2593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6525"/>
                  </a:lnTo>
                  <a:lnTo>
                    <a:pt x="597693" y="189706"/>
                  </a:lnTo>
                  <a:lnTo>
                    <a:pt x="615950" y="247650"/>
                  </a:lnTo>
                  <a:lnTo>
                    <a:pt x="622300" y="310356"/>
                  </a:lnTo>
                  <a:lnTo>
                    <a:pt x="615950" y="373062"/>
                  </a:lnTo>
                  <a:lnTo>
                    <a:pt x="597693" y="431800"/>
                  </a:lnTo>
                  <a:lnTo>
                    <a:pt x="569118" y="484187"/>
                  </a:lnTo>
                  <a:lnTo>
                    <a:pt x="531018" y="530225"/>
                  </a:lnTo>
                  <a:lnTo>
                    <a:pt x="484981" y="568325"/>
                  </a:lnTo>
                  <a:lnTo>
                    <a:pt x="432593" y="596900"/>
                  </a:lnTo>
                  <a:lnTo>
                    <a:pt x="373856" y="615156"/>
                  </a:lnTo>
                  <a:lnTo>
                    <a:pt x="311150" y="621506"/>
                  </a:lnTo>
                  <a:lnTo>
                    <a:pt x="248443" y="615156"/>
                  </a:lnTo>
                  <a:lnTo>
                    <a:pt x="190500" y="596900"/>
                  </a:lnTo>
                  <a:lnTo>
                    <a:pt x="137318" y="568325"/>
                  </a:lnTo>
                  <a:lnTo>
                    <a:pt x="91281" y="530225"/>
                  </a:lnTo>
                  <a:lnTo>
                    <a:pt x="53181" y="484187"/>
                  </a:lnTo>
                  <a:lnTo>
                    <a:pt x="24606" y="431800"/>
                  </a:lnTo>
                  <a:lnTo>
                    <a:pt x="6350" y="373062"/>
                  </a:lnTo>
                  <a:lnTo>
                    <a:pt x="0" y="310356"/>
                  </a:lnTo>
                  <a:close/>
                </a:path>
              </a:pathLst>
            </a:custGeom>
            <a:ln w="10795">
              <a:solidFill>
                <a:srgbClr val="C481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4024" y="3844302"/>
              <a:ext cx="4791075" cy="497840"/>
            </a:xfrm>
            <a:custGeom>
              <a:avLst/>
              <a:gdLst/>
              <a:ahLst/>
              <a:cxnLst/>
              <a:rect l="l" t="t" r="r" b="b"/>
              <a:pathLst>
                <a:path w="4791075" h="497839">
                  <a:moveTo>
                    <a:pt x="4790494" y="497556"/>
                  </a:moveTo>
                  <a:lnTo>
                    <a:pt x="0" y="497556"/>
                  </a:lnTo>
                  <a:lnTo>
                    <a:pt x="0" y="0"/>
                  </a:lnTo>
                  <a:lnTo>
                    <a:pt x="4790494" y="0"/>
                  </a:lnTo>
                  <a:lnTo>
                    <a:pt x="4790494" y="497556"/>
                  </a:lnTo>
                  <a:close/>
                </a:path>
              </a:pathLst>
            </a:custGeom>
            <a:solidFill>
              <a:srgbClr val="B98A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44024" y="3844302"/>
              <a:ext cx="4791075" cy="497840"/>
            </a:xfrm>
            <a:custGeom>
              <a:avLst/>
              <a:gdLst/>
              <a:ahLst/>
              <a:cxnLst/>
              <a:rect l="l" t="t" r="r" b="b"/>
              <a:pathLst>
                <a:path w="4791075" h="497839">
                  <a:moveTo>
                    <a:pt x="0" y="0"/>
                  </a:moveTo>
                  <a:lnTo>
                    <a:pt x="4790494" y="0"/>
                  </a:lnTo>
                  <a:lnTo>
                    <a:pt x="4790494" y="497556"/>
                  </a:lnTo>
                  <a:lnTo>
                    <a:pt x="0" y="497556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33050" y="3782107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6"/>
                  </a:moveTo>
                  <a:lnTo>
                    <a:pt x="265020" y="618574"/>
                  </a:lnTo>
                  <a:lnTo>
                    <a:pt x="221160" y="608780"/>
                  </a:lnTo>
                  <a:lnTo>
                    <a:pt x="179874" y="593043"/>
                  </a:lnTo>
                  <a:lnTo>
                    <a:pt x="141645" y="571846"/>
                  </a:lnTo>
                  <a:lnTo>
                    <a:pt x="106952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1"/>
                  </a:lnTo>
                  <a:lnTo>
                    <a:pt x="13166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7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5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6" y="310973"/>
                  </a:lnTo>
                  <a:lnTo>
                    <a:pt x="618575" y="356926"/>
                  </a:lnTo>
                  <a:lnTo>
                    <a:pt x="608780" y="400786"/>
                  </a:lnTo>
                  <a:lnTo>
                    <a:pt x="593044" y="442071"/>
                  </a:lnTo>
                  <a:lnTo>
                    <a:pt x="571847" y="480301"/>
                  </a:lnTo>
                  <a:lnTo>
                    <a:pt x="545670" y="514994"/>
                  </a:lnTo>
                  <a:lnTo>
                    <a:pt x="514995" y="545670"/>
                  </a:lnTo>
                  <a:lnTo>
                    <a:pt x="480302" y="571846"/>
                  </a:lnTo>
                  <a:lnTo>
                    <a:pt x="442072" y="593043"/>
                  </a:lnTo>
                  <a:lnTo>
                    <a:pt x="400787" y="608780"/>
                  </a:lnTo>
                  <a:lnTo>
                    <a:pt x="356928" y="618574"/>
                  </a:lnTo>
                  <a:lnTo>
                    <a:pt x="310973" y="621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33331" y="3782218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lnTo>
                    <a:pt x="6350" y="248443"/>
                  </a:lnTo>
                  <a:lnTo>
                    <a:pt x="24606" y="190500"/>
                  </a:lnTo>
                  <a:lnTo>
                    <a:pt x="53181" y="137318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90500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1800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7318"/>
                  </a:lnTo>
                  <a:lnTo>
                    <a:pt x="597693" y="190500"/>
                  </a:lnTo>
                  <a:lnTo>
                    <a:pt x="615950" y="248443"/>
                  </a:lnTo>
                  <a:lnTo>
                    <a:pt x="622300" y="311150"/>
                  </a:lnTo>
                  <a:lnTo>
                    <a:pt x="615950" y="373856"/>
                  </a:lnTo>
                  <a:lnTo>
                    <a:pt x="597693" y="431800"/>
                  </a:lnTo>
                  <a:lnTo>
                    <a:pt x="569118" y="484981"/>
                  </a:lnTo>
                  <a:lnTo>
                    <a:pt x="531018" y="531018"/>
                  </a:lnTo>
                  <a:lnTo>
                    <a:pt x="484981" y="569118"/>
                  </a:lnTo>
                  <a:lnTo>
                    <a:pt x="431800" y="597693"/>
                  </a:lnTo>
                  <a:lnTo>
                    <a:pt x="373856" y="615950"/>
                  </a:lnTo>
                  <a:lnTo>
                    <a:pt x="311150" y="622300"/>
                  </a:lnTo>
                  <a:lnTo>
                    <a:pt x="248443" y="615950"/>
                  </a:lnTo>
                  <a:lnTo>
                    <a:pt x="190500" y="597693"/>
                  </a:lnTo>
                  <a:lnTo>
                    <a:pt x="137318" y="569118"/>
                  </a:lnTo>
                  <a:lnTo>
                    <a:pt x="91281" y="531018"/>
                  </a:lnTo>
                  <a:lnTo>
                    <a:pt x="53181" y="484981"/>
                  </a:lnTo>
                  <a:lnTo>
                    <a:pt x="24606" y="431800"/>
                  </a:lnTo>
                  <a:lnTo>
                    <a:pt x="6350" y="373856"/>
                  </a:lnTo>
                  <a:lnTo>
                    <a:pt x="0" y="311150"/>
                  </a:lnTo>
                  <a:close/>
                </a:path>
              </a:pathLst>
            </a:custGeom>
            <a:ln w="10795">
              <a:solidFill>
                <a:srgbClr val="B98A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97106" y="4590530"/>
              <a:ext cx="5037455" cy="497840"/>
            </a:xfrm>
            <a:custGeom>
              <a:avLst/>
              <a:gdLst/>
              <a:ahLst/>
              <a:cxnLst/>
              <a:rect l="l" t="t" r="r" b="b"/>
              <a:pathLst>
                <a:path w="5037455" h="497839">
                  <a:moveTo>
                    <a:pt x="5037411" y="497556"/>
                  </a:moveTo>
                  <a:lnTo>
                    <a:pt x="0" y="497556"/>
                  </a:lnTo>
                  <a:lnTo>
                    <a:pt x="0" y="0"/>
                  </a:lnTo>
                  <a:lnTo>
                    <a:pt x="5037411" y="0"/>
                  </a:lnTo>
                  <a:lnTo>
                    <a:pt x="5037411" y="497556"/>
                  </a:lnTo>
                  <a:close/>
                </a:path>
              </a:pathLst>
            </a:custGeom>
            <a:solidFill>
              <a:srgbClr val="AE96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97106" y="4590530"/>
              <a:ext cx="5037455" cy="497840"/>
            </a:xfrm>
            <a:custGeom>
              <a:avLst/>
              <a:gdLst/>
              <a:ahLst/>
              <a:cxnLst/>
              <a:rect l="l" t="t" r="r" b="b"/>
              <a:pathLst>
                <a:path w="5037455" h="497839">
                  <a:moveTo>
                    <a:pt x="0" y="0"/>
                  </a:moveTo>
                  <a:lnTo>
                    <a:pt x="5037411" y="0"/>
                  </a:lnTo>
                  <a:lnTo>
                    <a:pt x="5037411" y="497556"/>
                  </a:lnTo>
                  <a:lnTo>
                    <a:pt x="0" y="497556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86133" y="4528334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6"/>
                  </a:moveTo>
                  <a:lnTo>
                    <a:pt x="265020" y="618574"/>
                  </a:lnTo>
                  <a:lnTo>
                    <a:pt x="221160" y="608780"/>
                  </a:lnTo>
                  <a:lnTo>
                    <a:pt x="179874" y="593043"/>
                  </a:lnTo>
                  <a:lnTo>
                    <a:pt x="141645" y="571846"/>
                  </a:lnTo>
                  <a:lnTo>
                    <a:pt x="106952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1"/>
                  </a:lnTo>
                  <a:lnTo>
                    <a:pt x="13166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6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5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7" y="310973"/>
                  </a:lnTo>
                  <a:lnTo>
                    <a:pt x="618575" y="356926"/>
                  </a:lnTo>
                  <a:lnTo>
                    <a:pt x="608781" y="400786"/>
                  </a:lnTo>
                  <a:lnTo>
                    <a:pt x="593044" y="442071"/>
                  </a:lnTo>
                  <a:lnTo>
                    <a:pt x="571847" y="480301"/>
                  </a:lnTo>
                  <a:lnTo>
                    <a:pt x="545670" y="514994"/>
                  </a:lnTo>
                  <a:lnTo>
                    <a:pt x="514995" y="545670"/>
                  </a:lnTo>
                  <a:lnTo>
                    <a:pt x="480302" y="571846"/>
                  </a:lnTo>
                  <a:lnTo>
                    <a:pt x="442072" y="593043"/>
                  </a:lnTo>
                  <a:lnTo>
                    <a:pt x="400787" y="608780"/>
                  </a:lnTo>
                  <a:lnTo>
                    <a:pt x="356928" y="618574"/>
                  </a:lnTo>
                  <a:lnTo>
                    <a:pt x="310973" y="621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86475" y="4528343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lnTo>
                    <a:pt x="6350" y="248443"/>
                  </a:lnTo>
                  <a:lnTo>
                    <a:pt x="24606" y="190500"/>
                  </a:lnTo>
                  <a:lnTo>
                    <a:pt x="53181" y="137318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89706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1800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7318"/>
                  </a:lnTo>
                  <a:lnTo>
                    <a:pt x="597693" y="190500"/>
                  </a:lnTo>
                  <a:lnTo>
                    <a:pt x="615950" y="248443"/>
                  </a:lnTo>
                  <a:lnTo>
                    <a:pt x="622300" y="311150"/>
                  </a:lnTo>
                  <a:lnTo>
                    <a:pt x="615950" y="373856"/>
                  </a:lnTo>
                  <a:lnTo>
                    <a:pt x="597693" y="432593"/>
                  </a:lnTo>
                  <a:lnTo>
                    <a:pt x="569118" y="484981"/>
                  </a:lnTo>
                  <a:lnTo>
                    <a:pt x="531018" y="531018"/>
                  </a:lnTo>
                  <a:lnTo>
                    <a:pt x="484981" y="569118"/>
                  </a:lnTo>
                  <a:lnTo>
                    <a:pt x="431800" y="597693"/>
                  </a:lnTo>
                  <a:lnTo>
                    <a:pt x="373856" y="615950"/>
                  </a:lnTo>
                  <a:lnTo>
                    <a:pt x="311150" y="622300"/>
                  </a:lnTo>
                  <a:lnTo>
                    <a:pt x="248443" y="615950"/>
                  </a:lnTo>
                  <a:lnTo>
                    <a:pt x="189706" y="597693"/>
                  </a:lnTo>
                  <a:lnTo>
                    <a:pt x="137318" y="569118"/>
                  </a:lnTo>
                  <a:lnTo>
                    <a:pt x="91281" y="531018"/>
                  </a:lnTo>
                  <a:lnTo>
                    <a:pt x="53181" y="484981"/>
                  </a:lnTo>
                  <a:lnTo>
                    <a:pt x="24606" y="432593"/>
                  </a:lnTo>
                  <a:lnTo>
                    <a:pt x="6350" y="373856"/>
                  </a:lnTo>
                  <a:lnTo>
                    <a:pt x="0" y="311150"/>
                  </a:lnTo>
                  <a:close/>
                </a:path>
              </a:pathLst>
            </a:custGeom>
            <a:ln w="10795">
              <a:solidFill>
                <a:srgbClr val="AE96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6523" y="5337304"/>
              <a:ext cx="5488305" cy="497840"/>
            </a:xfrm>
            <a:custGeom>
              <a:avLst/>
              <a:gdLst/>
              <a:ahLst/>
              <a:cxnLst/>
              <a:rect l="l" t="t" r="r" b="b"/>
              <a:pathLst>
                <a:path w="5488305" h="497839">
                  <a:moveTo>
                    <a:pt x="5487995" y="497557"/>
                  </a:moveTo>
                  <a:lnTo>
                    <a:pt x="0" y="497557"/>
                  </a:lnTo>
                  <a:lnTo>
                    <a:pt x="0" y="0"/>
                  </a:lnTo>
                  <a:lnTo>
                    <a:pt x="5487995" y="0"/>
                  </a:lnTo>
                  <a:lnTo>
                    <a:pt x="5487995" y="4975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46523" y="5337304"/>
              <a:ext cx="5488305" cy="497840"/>
            </a:xfrm>
            <a:custGeom>
              <a:avLst/>
              <a:gdLst/>
              <a:ahLst/>
              <a:cxnLst/>
              <a:rect l="l" t="t" r="r" b="b"/>
              <a:pathLst>
                <a:path w="5488305" h="497839">
                  <a:moveTo>
                    <a:pt x="0" y="0"/>
                  </a:moveTo>
                  <a:lnTo>
                    <a:pt x="5487995" y="0"/>
                  </a:lnTo>
                  <a:lnTo>
                    <a:pt x="5487995" y="497557"/>
                  </a:lnTo>
                  <a:lnTo>
                    <a:pt x="0" y="497557"/>
                  </a:lnTo>
                  <a:lnTo>
                    <a:pt x="0" y="0"/>
                  </a:lnTo>
                  <a:close/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28759" y="1605899"/>
            <a:ext cx="470217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Cleaning</a:t>
            </a:r>
            <a:endParaRPr sz="2600">
              <a:latin typeface="Calibri"/>
              <a:cs typeface="Calibri"/>
            </a:endParaRPr>
          </a:p>
          <a:p>
            <a:pPr marL="788670" marR="591820" indent="-79375">
              <a:lnSpc>
                <a:spcPts val="5880"/>
              </a:lnSpc>
              <a:spcBef>
                <a:spcPts val="650"/>
              </a:spcBef>
            </a:pPr>
            <a:r>
              <a:rPr sz="2600" spc="-10" dirty="0">
                <a:latin typeface="Calibri"/>
                <a:cs typeface="Calibri"/>
              </a:rPr>
              <a:t>Exploratory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 </a:t>
            </a:r>
            <a:r>
              <a:rPr sz="2600" dirty="0">
                <a:latin typeface="Calibri"/>
                <a:cs typeface="Calibri"/>
              </a:rPr>
              <a:t>Normality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Testing</a:t>
            </a:r>
            <a:endParaRPr sz="2600">
              <a:latin typeface="Calibri"/>
              <a:cs typeface="Calibri"/>
            </a:endParaRPr>
          </a:p>
          <a:p>
            <a:pPr marL="462915" marR="1596390" indent="246379">
              <a:lnSpc>
                <a:spcPts val="5880"/>
              </a:lnSpc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Visualization Statistical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Modeling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Refinement</a:t>
            </a:r>
            <a:r>
              <a:rPr sz="2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Diagnostics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30227" y="5269865"/>
            <a:ext cx="633095" cy="633095"/>
            <a:chOff x="5630227" y="5269865"/>
            <a:chExt cx="633095" cy="633095"/>
          </a:xfrm>
        </p:grpSpPr>
        <p:sp>
          <p:nvSpPr>
            <p:cNvPr id="37" name="object 37"/>
            <p:cNvSpPr/>
            <p:nvPr/>
          </p:nvSpPr>
          <p:spPr>
            <a:xfrm>
              <a:off x="5635549" y="5275109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973" y="621946"/>
                  </a:moveTo>
                  <a:lnTo>
                    <a:pt x="265019" y="618574"/>
                  </a:lnTo>
                  <a:lnTo>
                    <a:pt x="221159" y="608780"/>
                  </a:lnTo>
                  <a:lnTo>
                    <a:pt x="179874" y="593043"/>
                  </a:lnTo>
                  <a:lnTo>
                    <a:pt x="141644" y="571846"/>
                  </a:lnTo>
                  <a:lnTo>
                    <a:pt x="106951" y="545670"/>
                  </a:lnTo>
                  <a:lnTo>
                    <a:pt x="76276" y="514994"/>
                  </a:lnTo>
                  <a:lnTo>
                    <a:pt x="50099" y="480301"/>
                  </a:lnTo>
                  <a:lnTo>
                    <a:pt x="28902" y="442071"/>
                  </a:lnTo>
                  <a:lnTo>
                    <a:pt x="13165" y="400786"/>
                  </a:lnTo>
                  <a:lnTo>
                    <a:pt x="3371" y="356926"/>
                  </a:lnTo>
                  <a:lnTo>
                    <a:pt x="0" y="310973"/>
                  </a:lnTo>
                  <a:lnTo>
                    <a:pt x="3371" y="265020"/>
                  </a:lnTo>
                  <a:lnTo>
                    <a:pt x="13166" y="221160"/>
                  </a:lnTo>
                  <a:lnTo>
                    <a:pt x="28902" y="179874"/>
                  </a:lnTo>
                  <a:lnTo>
                    <a:pt x="50099" y="141645"/>
                  </a:lnTo>
                  <a:lnTo>
                    <a:pt x="76276" y="106952"/>
                  </a:lnTo>
                  <a:lnTo>
                    <a:pt x="106952" y="76276"/>
                  </a:lnTo>
                  <a:lnTo>
                    <a:pt x="141645" y="50099"/>
                  </a:lnTo>
                  <a:lnTo>
                    <a:pt x="179874" y="28902"/>
                  </a:lnTo>
                  <a:lnTo>
                    <a:pt x="221160" y="13166"/>
                  </a:lnTo>
                  <a:lnTo>
                    <a:pt x="265020" y="3371"/>
                  </a:lnTo>
                  <a:lnTo>
                    <a:pt x="310973" y="0"/>
                  </a:lnTo>
                  <a:lnTo>
                    <a:pt x="356926" y="3371"/>
                  </a:lnTo>
                  <a:lnTo>
                    <a:pt x="400786" y="13166"/>
                  </a:lnTo>
                  <a:lnTo>
                    <a:pt x="442072" y="28902"/>
                  </a:lnTo>
                  <a:lnTo>
                    <a:pt x="480301" y="50099"/>
                  </a:lnTo>
                  <a:lnTo>
                    <a:pt x="514994" y="76276"/>
                  </a:lnTo>
                  <a:lnTo>
                    <a:pt x="545670" y="106952"/>
                  </a:lnTo>
                  <a:lnTo>
                    <a:pt x="571847" y="141645"/>
                  </a:lnTo>
                  <a:lnTo>
                    <a:pt x="593044" y="179874"/>
                  </a:lnTo>
                  <a:lnTo>
                    <a:pt x="608780" y="221160"/>
                  </a:lnTo>
                  <a:lnTo>
                    <a:pt x="618575" y="265020"/>
                  </a:lnTo>
                  <a:lnTo>
                    <a:pt x="621946" y="310973"/>
                  </a:lnTo>
                  <a:lnTo>
                    <a:pt x="618574" y="356926"/>
                  </a:lnTo>
                  <a:lnTo>
                    <a:pt x="608780" y="400786"/>
                  </a:lnTo>
                  <a:lnTo>
                    <a:pt x="593044" y="442071"/>
                  </a:lnTo>
                  <a:lnTo>
                    <a:pt x="571846" y="480301"/>
                  </a:lnTo>
                  <a:lnTo>
                    <a:pt x="545670" y="514994"/>
                  </a:lnTo>
                  <a:lnTo>
                    <a:pt x="514994" y="545670"/>
                  </a:lnTo>
                  <a:lnTo>
                    <a:pt x="480301" y="571846"/>
                  </a:lnTo>
                  <a:lnTo>
                    <a:pt x="442072" y="593043"/>
                  </a:lnTo>
                  <a:lnTo>
                    <a:pt x="400787" y="608780"/>
                  </a:lnTo>
                  <a:lnTo>
                    <a:pt x="356928" y="618574"/>
                  </a:lnTo>
                  <a:lnTo>
                    <a:pt x="310973" y="621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35625" y="5275262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lnTo>
                    <a:pt x="6350" y="248443"/>
                  </a:lnTo>
                  <a:lnTo>
                    <a:pt x="24606" y="190500"/>
                  </a:lnTo>
                  <a:lnTo>
                    <a:pt x="53181" y="137318"/>
                  </a:lnTo>
                  <a:lnTo>
                    <a:pt x="91281" y="91281"/>
                  </a:lnTo>
                  <a:lnTo>
                    <a:pt x="137318" y="53181"/>
                  </a:lnTo>
                  <a:lnTo>
                    <a:pt x="190500" y="24606"/>
                  </a:lnTo>
                  <a:lnTo>
                    <a:pt x="248443" y="6350"/>
                  </a:lnTo>
                  <a:lnTo>
                    <a:pt x="311150" y="0"/>
                  </a:lnTo>
                  <a:lnTo>
                    <a:pt x="373856" y="6350"/>
                  </a:lnTo>
                  <a:lnTo>
                    <a:pt x="432593" y="24606"/>
                  </a:lnTo>
                  <a:lnTo>
                    <a:pt x="484981" y="53181"/>
                  </a:lnTo>
                  <a:lnTo>
                    <a:pt x="531018" y="91281"/>
                  </a:lnTo>
                  <a:lnTo>
                    <a:pt x="569118" y="137318"/>
                  </a:lnTo>
                  <a:lnTo>
                    <a:pt x="597693" y="190500"/>
                  </a:lnTo>
                  <a:lnTo>
                    <a:pt x="615950" y="248443"/>
                  </a:lnTo>
                  <a:lnTo>
                    <a:pt x="622300" y="311150"/>
                  </a:lnTo>
                  <a:lnTo>
                    <a:pt x="615950" y="373856"/>
                  </a:lnTo>
                  <a:lnTo>
                    <a:pt x="597693" y="431800"/>
                  </a:lnTo>
                  <a:lnTo>
                    <a:pt x="569118" y="484981"/>
                  </a:lnTo>
                  <a:lnTo>
                    <a:pt x="531018" y="531018"/>
                  </a:lnTo>
                  <a:lnTo>
                    <a:pt x="484981" y="569118"/>
                  </a:lnTo>
                  <a:lnTo>
                    <a:pt x="432593" y="597693"/>
                  </a:lnTo>
                  <a:lnTo>
                    <a:pt x="373856" y="615950"/>
                  </a:lnTo>
                  <a:lnTo>
                    <a:pt x="311150" y="622300"/>
                  </a:lnTo>
                  <a:lnTo>
                    <a:pt x="248443" y="615950"/>
                  </a:lnTo>
                  <a:lnTo>
                    <a:pt x="190500" y="597693"/>
                  </a:lnTo>
                  <a:lnTo>
                    <a:pt x="137318" y="569118"/>
                  </a:lnTo>
                  <a:lnTo>
                    <a:pt x="91281" y="531018"/>
                  </a:lnTo>
                  <a:lnTo>
                    <a:pt x="53181" y="484981"/>
                  </a:lnTo>
                  <a:lnTo>
                    <a:pt x="24606" y="431800"/>
                  </a:lnTo>
                  <a:lnTo>
                    <a:pt x="6350" y="373856"/>
                  </a:lnTo>
                  <a:lnTo>
                    <a:pt x="0" y="311150"/>
                  </a:lnTo>
                  <a:close/>
                </a:path>
              </a:pathLst>
            </a:custGeom>
            <a:ln w="10795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8940" y="407151"/>
            <a:ext cx="56267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3795" algn="l"/>
              </a:tabLst>
            </a:pP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Analyzing</a:t>
            </a: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	Data</a:t>
            </a:r>
            <a:r>
              <a:rPr sz="4300" b="0" spc="-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Variables</a:t>
            </a:r>
            <a:endParaRPr sz="43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371600"/>
            <a:ext cx="10288269" cy="4694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1270" algn="l"/>
                <a:tab pos="3804920" algn="l"/>
                <a:tab pos="4396105" algn="l"/>
                <a:tab pos="5654675" algn="l"/>
              </a:tabLst>
            </a:pPr>
            <a:r>
              <a:rPr sz="4300" spc="-20" dirty="0">
                <a:solidFill>
                  <a:srgbClr val="000000"/>
                </a:solidFill>
              </a:rPr>
              <a:t>Data</a:t>
            </a:r>
            <a:r>
              <a:rPr sz="4300" dirty="0">
                <a:solidFill>
                  <a:srgbClr val="000000"/>
                </a:solidFill>
              </a:rPr>
              <a:t>	</a:t>
            </a:r>
            <a:r>
              <a:rPr sz="4300" spc="-10" dirty="0">
                <a:solidFill>
                  <a:srgbClr val="000000"/>
                </a:solidFill>
              </a:rPr>
              <a:t>Importing</a:t>
            </a:r>
            <a:r>
              <a:rPr sz="4300" dirty="0">
                <a:solidFill>
                  <a:srgbClr val="000000"/>
                </a:solidFill>
              </a:rPr>
              <a:t>	</a:t>
            </a:r>
            <a:r>
              <a:rPr sz="4300" spc="-50" dirty="0">
                <a:solidFill>
                  <a:srgbClr val="000000"/>
                </a:solidFill>
              </a:rPr>
              <a:t>&amp;</a:t>
            </a:r>
            <a:r>
              <a:rPr sz="4300" dirty="0">
                <a:solidFill>
                  <a:srgbClr val="000000"/>
                </a:solidFill>
              </a:rPr>
              <a:t>	</a:t>
            </a:r>
            <a:r>
              <a:rPr sz="4300" spc="-20" dirty="0">
                <a:solidFill>
                  <a:srgbClr val="000000"/>
                </a:solidFill>
              </a:rPr>
              <a:t>Data</a:t>
            </a:r>
            <a:r>
              <a:rPr sz="4300" dirty="0">
                <a:solidFill>
                  <a:srgbClr val="000000"/>
                </a:solidFill>
              </a:rPr>
              <a:t>	</a:t>
            </a:r>
            <a:r>
              <a:rPr sz="4300" spc="-10" dirty="0">
                <a:solidFill>
                  <a:srgbClr val="000000"/>
                </a:solidFill>
              </a:rPr>
              <a:t>Description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25064" y="907241"/>
            <a:ext cx="10803890" cy="9290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35"/>
              </a:spcBef>
              <a:buSzPct val="103125"/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CSV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containing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Expectancy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uploaded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"read.csv"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code.</a:t>
            </a:r>
            <a:endParaRPr sz="1600">
              <a:latin typeface="Times New Roman"/>
              <a:cs typeface="Times New Roman"/>
            </a:endParaRPr>
          </a:p>
          <a:p>
            <a:pPr marL="241300" indent="-228600">
              <a:lnSpc>
                <a:spcPts val="1825"/>
              </a:lnSpc>
              <a:spcBef>
                <a:spcPts val="805"/>
              </a:spcBef>
              <a:buSzPct val="103125"/>
              <a:buFont typeface="Arial MT"/>
              <a:buChar char="•"/>
              <a:tabLst>
                <a:tab pos="241300" algn="l"/>
              </a:tabLst>
            </a:pPr>
            <a:r>
              <a:rPr sz="1600" spc="-55" dirty="0">
                <a:latin typeface="Times New Roman"/>
                <a:cs typeface="Times New Roman"/>
              </a:rPr>
              <a:t>We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examined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few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rows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modified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"head(data)"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obtained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columns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ts val="1825"/>
              </a:lnSpc>
            </a:pP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“str(data).”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743200"/>
            <a:ext cx="4268311" cy="6843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5245100"/>
            <a:ext cx="3486494" cy="123660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2413000"/>
            <a:ext cx="12192000" cy="4445000"/>
            <a:chOff x="0" y="2413000"/>
            <a:chExt cx="12192000" cy="4445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68700"/>
              <a:ext cx="5257800" cy="3289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" y="3657600"/>
              <a:ext cx="5042532" cy="3115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200" y="3657600"/>
              <a:ext cx="5042535" cy="3115310"/>
            </a:xfrm>
            <a:custGeom>
              <a:avLst/>
              <a:gdLst/>
              <a:ahLst/>
              <a:cxnLst/>
              <a:rect l="l" t="t" r="r" b="b"/>
              <a:pathLst>
                <a:path w="5042535" h="3115309">
                  <a:moveTo>
                    <a:pt x="0" y="0"/>
                  </a:moveTo>
                  <a:lnTo>
                    <a:pt x="5042532" y="0"/>
                  </a:lnTo>
                  <a:lnTo>
                    <a:pt x="5042532" y="3115233"/>
                  </a:lnTo>
                  <a:lnTo>
                    <a:pt x="0" y="3115233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2700" y="2413000"/>
              <a:ext cx="7099300" cy="1485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1600" y="2501900"/>
              <a:ext cx="6934200" cy="12617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1600" y="2504825"/>
              <a:ext cx="6934200" cy="1261745"/>
            </a:xfrm>
            <a:custGeom>
              <a:avLst/>
              <a:gdLst/>
              <a:ahLst/>
              <a:cxnLst/>
              <a:rect l="l" t="t" r="r" b="b"/>
              <a:pathLst>
                <a:path w="6934200" h="1261745">
                  <a:moveTo>
                    <a:pt x="0" y="0"/>
                  </a:moveTo>
                  <a:lnTo>
                    <a:pt x="6934200" y="0"/>
                  </a:lnTo>
                  <a:lnTo>
                    <a:pt x="6934200" y="1261748"/>
                  </a:lnTo>
                  <a:lnTo>
                    <a:pt x="0" y="1261748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1940" y="495995"/>
            <a:ext cx="4531360" cy="12706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4640"/>
              </a:lnSpc>
              <a:spcBef>
                <a:spcPts val="685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Defining</a:t>
            </a:r>
            <a:r>
              <a:rPr sz="40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3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selected variables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49309" y="2047478"/>
            <a:ext cx="5090160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SzPct val="102941"/>
              <a:buFont typeface="Arial MT"/>
              <a:buChar char="•"/>
              <a:tabLst>
                <a:tab pos="241300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removed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extra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spaces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names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later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 </a:t>
            </a:r>
            <a:r>
              <a:rPr sz="1700" dirty="0">
                <a:latin typeface="Times New Roman"/>
                <a:cs typeface="Times New Roman"/>
              </a:rPr>
              <a:t>selected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relevant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variables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dataset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excluding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“Country”,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“Year”,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“Population”.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044700"/>
            <a:ext cx="5487769" cy="11432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4102100"/>
            <a:ext cx="10213460" cy="1893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0819" y="258079"/>
            <a:ext cx="31648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3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Cleaning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9576" y="995331"/>
            <a:ext cx="31216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applying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function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sums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up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995331"/>
            <a:ext cx="7464425" cy="51815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SzPct val="102941"/>
              <a:buFont typeface="Arial MT"/>
              <a:buChar char="•"/>
              <a:tabLst>
                <a:tab pos="241300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calculated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missing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“</a:t>
            </a:r>
            <a:r>
              <a:rPr sz="1200" spc="-10" dirty="0">
                <a:latin typeface="Courier New"/>
                <a:cs typeface="Courier New"/>
              </a:rPr>
              <a:t>selected_data”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stores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result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200" dirty="0">
                <a:latin typeface="Courier New"/>
                <a:cs typeface="Courier New"/>
              </a:rPr>
              <a:t>missing_values”</a:t>
            </a:r>
            <a:r>
              <a:rPr sz="1200" spc="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object.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034" cy="276225"/>
          </a:xfrm>
          <a:custGeom>
            <a:avLst/>
            <a:gdLst/>
            <a:ahLst/>
            <a:cxnLst/>
            <a:rect l="l" t="t" r="r" b="b"/>
            <a:pathLst>
              <a:path w="26034" h="276225">
                <a:moveTo>
                  <a:pt x="25711" y="276178"/>
                </a:moveTo>
                <a:lnTo>
                  <a:pt x="0" y="276178"/>
                </a:lnTo>
                <a:lnTo>
                  <a:pt x="0" y="0"/>
                </a:lnTo>
                <a:lnTo>
                  <a:pt x="25711" y="0"/>
                </a:lnTo>
                <a:lnTo>
                  <a:pt x="25711" y="276178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4000"/>
            <a:ext cx="11013844" cy="2082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4356100"/>
            <a:ext cx="11069522" cy="220393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9740" y="3699108"/>
            <a:ext cx="1076896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939"/>
              </a:lnSpc>
              <a:spcBef>
                <a:spcPts val="100"/>
              </a:spcBef>
              <a:buSzPct val="102941"/>
              <a:buFont typeface="Arial MT"/>
              <a:buChar char="•"/>
              <a:tabLst>
                <a:tab pos="241300" algn="l"/>
                <a:tab pos="4509770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removed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rows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missing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25" dirty="0">
                <a:latin typeface="Times New Roman"/>
                <a:cs typeface="Times New Roman"/>
              </a:rPr>
              <a:t> the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200" dirty="0">
                <a:latin typeface="Courier New"/>
                <a:cs typeface="Courier New"/>
              </a:rPr>
              <a:t>“selected_data”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stored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result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“</a:t>
            </a:r>
            <a:r>
              <a:rPr sz="1200" spc="-10" dirty="0">
                <a:latin typeface="Courier New"/>
                <a:cs typeface="Courier New"/>
              </a:rPr>
              <a:t>selected_data1”</a:t>
            </a:r>
            <a:r>
              <a:rPr sz="1700" spc="-10" dirty="0">
                <a:latin typeface="Times New Roman"/>
                <a:cs typeface="Times New Roman"/>
              </a:rPr>
              <a:t>,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verified</a:t>
            </a:r>
            <a:endParaRPr sz="170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  <a:tabLst>
                <a:tab pos="8517255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removal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calculating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displaying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missing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Courier New"/>
                <a:cs typeface="Courier New"/>
              </a:rPr>
              <a:t>“selected_data1”</a:t>
            </a:r>
            <a:r>
              <a:rPr sz="1700" spc="-10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9828" y="407563"/>
            <a:ext cx="64941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000000"/>
                </a:solidFill>
                <a:latin typeface="Times New Roman"/>
                <a:cs typeface="Times New Roman"/>
              </a:rPr>
              <a:t>Exploratory</a:t>
            </a:r>
            <a:r>
              <a:rPr sz="4800" b="0" spc="-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b="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800" b="0" spc="-3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Analysis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185351"/>
            <a:ext cx="9613900" cy="12039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Times New Roman"/>
                <a:cs typeface="Times New Roman"/>
              </a:rPr>
              <a:t>Summary </a:t>
            </a:r>
            <a:r>
              <a:rPr sz="1700" b="1" spc="-10" dirty="0">
                <a:latin typeface="Times New Roman"/>
                <a:cs typeface="Times New Roman"/>
              </a:rPr>
              <a:t>Statistics:</a:t>
            </a:r>
            <a:endParaRPr sz="17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1839"/>
              </a:lnSpc>
              <a:spcBef>
                <a:spcPts val="1025"/>
              </a:spcBef>
              <a:buSzPct val="102941"/>
              <a:buFont typeface="Arial MT"/>
              <a:buChar char="•"/>
              <a:tabLst>
                <a:tab pos="240665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generated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summary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the</a:t>
            </a:r>
            <a:r>
              <a:rPr sz="1700" spc="3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“</a:t>
            </a:r>
            <a:r>
              <a:rPr sz="1200" spc="-10" dirty="0">
                <a:latin typeface="Courier New"/>
                <a:cs typeface="Courier New"/>
              </a:rPr>
              <a:t>selected_data1”</a:t>
            </a:r>
            <a:r>
              <a:rPr sz="1700" spc="-10" dirty="0">
                <a:latin typeface="Times New Roman"/>
                <a:cs typeface="Times New Roman"/>
              </a:rPr>
              <a:t>, </a:t>
            </a:r>
            <a:r>
              <a:rPr sz="1700" dirty="0">
                <a:latin typeface="Times New Roman"/>
                <a:cs typeface="Times New Roman"/>
              </a:rPr>
              <a:t>providing key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statistical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measures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such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 mean,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median, </a:t>
            </a:r>
            <a:r>
              <a:rPr sz="1700" dirty="0">
                <a:latin typeface="Times New Roman"/>
                <a:cs typeface="Times New Roman"/>
              </a:rPr>
              <a:t>minimum,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maximum,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quartiles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variable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dataset.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exploration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provided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detailed </a:t>
            </a:r>
            <a:r>
              <a:rPr sz="1700" dirty="0">
                <a:latin typeface="Times New Roman"/>
                <a:cs typeface="Times New Roman"/>
              </a:rPr>
              <a:t>insight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central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tendencies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distribution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characteristics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dataset.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034" cy="276225"/>
          </a:xfrm>
          <a:custGeom>
            <a:avLst/>
            <a:gdLst/>
            <a:ahLst/>
            <a:cxnLst/>
            <a:rect l="l" t="t" r="r" b="b"/>
            <a:pathLst>
              <a:path w="26034" h="276225">
                <a:moveTo>
                  <a:pt x="25704" y="0"/>
                </a:moveTo>
                <a:lnTo>
                  <a:pt x="0" y="0"/>
                </a:lnTo>
                <a:lnTo>
                  <a:pt x="0" y="276186"/>
                </a:lnTo>
                <a:lnTo>
                  <a:pt x="25704" y="276186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048000"/>
            <a:ext cx="11099351" cy="30255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9270">
              <a:lnSpc>
                <a:spcPct val="100000"/>
              </a:lnSpc>
              <a:spcBef>
                <a:spcPts val="100"/>
              </a:spcBef>
            </a:pP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Outliers</a:t>
            </a:r>
            <a:r>
              <a:rPr sz="43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Detection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066541"/>
            <a:ext cx="10360025" cy="10718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0665" marR="5080" indent="-228600">
              <a:lnSpc>
                <a:spcPct val="90200"/>
              </a:lnSpc>
              <a:spcBef>
                <a:spcPts val="335"/>
              </a:spcBef>
              <a:buSzPct val="102941"/>
              <a:buFont typeface="Arial MT"/>
              <a:buChar char="•"/>
              <a:tabLst>
                <a:tab pos="240665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generated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boxplots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numeric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“</a:t>
            </a:r>
            <a:r>
              <a:rPr sz="1400" spc="-10" dirty="0">
                <a:latin typeface="Courier New"/>
                <a:cs typeface="Courier New"/>
              </a:rPr>
              <a:t>selected_data1”</a:t>
            </a:r>
            <a:r>
              <a:rPr sz="1500" spc="-10" dirty="0">
                <a:latin typeface="Times New Roman"/>
                <a:cs typeface="Times New Roman"/>
              </a:rPr>
              <a:t>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visualize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outliers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defined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 </a:t>
            </a:r>
            <a:r>
              <a:rPr sz="1700" dirty="0">
                <a:latin typeface="Times New Roman"/>
                <a:cs typeface="Times New Roman"/>
              </a:rPr>
              <a:t>function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cap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outliers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1.5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interquartile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below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first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quartile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above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third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quartile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apply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function 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 numeric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 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“</a:t>
            </a:r>
            <a:r>
              <a:rPr sz="1400" spc="-10" dirty="0">
                <a:latin typeface="Courier New"/>
                <a:cs typeface="Courier New"/>
              </a:rPr>
              <a:t>selected_data1”</a:t>
            </a:r>
            <a:r>
              <a:rPr sz="1700" spc="-10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 and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finally checked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number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outliers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each numeric column after the capping </a:t>
            </a:r>
            <a:r>
              <a:rPr sz="1700" spc="-10" dirty="0">
                <a:latin typeface="Times New Roman"/>
                <a:cs typeface="Times New Roman"/>
              </a:rPr>
              <a:t>process.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034" cy="137795"/>
          </a:xfrm>
          <a:custGeom>
            <a:avLst/>
            <a:gdLst/>
            <a:ahLst/>
            <a:cxnLst/>
            <a:rect l="l" t="t" r="r" b="b"/>
            <a:pathLst>
              <a:path w="26034" h="137795">
                <a:moveTo>
                  <a:pt x="25711" y="137643"/>
                </a:moveTo>
                <a:lnTo>
                  <a:pt x="0" y="137643"/>
                </a:lnTo>
                <a:lnTo>
                  <a:pt x="0" y="0"/>
                </a:lnTo>
                <a:lnTo>
                  <a:pt x="25711" y="0"/>
                </a:lnTo>
                <a:lnTo>
                  <a:pt x="25711" y="137643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44500" y="2654300"/>
            <a:ext cx="11315700" cy="3606800"/>
            <a:chOff x="444500" y="2654300"/>
            <a:chExt cx="11315700" cy="36068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2654300"/>
              <a:ext cx="5549900" cy="3581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9200" y="2743200"/>
              <a:ext cx="5323324" cy="33648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99170" y="2743020"/>
              <a:ext cx="5323840" cy="3365500"/>
            </a:xfrm>
            <a:custGeom>
              <a:avLst/>
              <a:gdLst/>
              <a:ahLst/>
              <a:cxnLst/>
              <a:rect l="l" t="t" r="r" b="b"/>
              <a:pathLst>
                <a:path w="5323840" h="3365500">
                  <a:moveTo>
                    <a:pt x="0" y="0"/>
                  </a:moveTo>
                  <a:lnTo>
                    <a:pt x="5323324" y="0"/>
                  </a:lnTo>
                  <a:lnTo>
                    <a:pt x="5323324" y="3364886"/>
                  </a:lnTo>
                  <a:lnTo>
                    <a:pt x="0" y="3364886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00" y="2654300"/>
              <a:ext cx="5778500" cy="3606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2743200"/>
              <a:ext cx="5557457" cy="33865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8542" y="2743021"/>
              <a:ext cx="5557520" cy="3387090"/>
            </a:xfrm>
            <a:custGeom>
              <a:avLst/>
              <a:gdLst/>
              <a:ahLst/>
              <a:cxnLst/>
              <a:rect l="l" t="t" r="r" b="b"/>
              <a:pathLst>
                <a:path w="5557520" h="3387090">
                  <a:moveTo>
                    <a:pt x="0" y="0"/>
                  </a:moveTo>
                  <a:lnTo>
                    <a:pt x="5557457" y="0"/>
                  </a:lnTo>
                  <a:lnTo>
                    <a:pt x="5557457" y="3386506"/>
                  </a:lnTo>
                  <a:lnTo>
                    <a:pt x="0" y="3386506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5250" y="393476"/>
            <a:ext cx="49072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Checking</a:t>
            </a:r>
            <a:r>
              <a:rPr sz="40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40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Normality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101173"/>
            <a:ext cx="1121410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1300" marR="5080" indent="-228600" algn="just">
              <a:lnSpc>
                <a:spcPct val="100600"/>
              </a:lnSpc>
              <a:spcBef>
                <a:spcPts val="85"/>
              </a:spcBef>
              <a:buSzPct val="102777"/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generates Quantile-Quantile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(Q-Q) plots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each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numeric column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the</a:t>
            </a:r>
            <a:r>
              <a:rPr sz="1800" spc="18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Courier New"/>
                <a:cs typeface="Courier New"/>
              </a:rPr>
              <a:t>“selected_data1”</a:t>
            </a:r>
            <a:r>
              <a:rPr sz="1500" spc="-10" dirty="0">
                <a:latin typeface="Times New Roman"/>
                <a:cs typeface="Times New Roman"/>
              </a:rPr>
              <a:t>.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10" dirty="0">
                <a:latin typeface="Times New Roman"/>
                <a:cs typeface="Times New Roman"/>
              </a:rPr>
              <a:t>assess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columns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follows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distribution,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plots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organized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batches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easy </a:t>
            </a:r>
            <a:r>
              <a:rPr sz="1800" spc="-10" dirty="0">
                <a:latin typeface="Times New Roman"/>
                <a:cs typeface="Times New Roman"/>
              </a:rPr>
              <a:t>visualization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06045" cy="353695"/>
          </a:xfrm>
          <a:custGeom>
            <a:avLst/>
            <a:gdLst/>
            <a:ahLst/>
            <a:cxnLst/>
            <a:rect l="l" t="t" r="r" b="b"/>
            <a:pathLst>
              <a:path w="106045" h="353695">
                <a:moveTo>
                  <a:pt x="105817" y="353142"/>
                </a:moveTo>
                <a:lnTo>
                  <a:pt x="0" y="353142"/>
                </a:lnTo>
                <a:lnTo>
                  <a:pt x="0" y="0"/>
                </a:lnTo>
                <a:lnTo>
                  <a:pt x="105817" y="0"/>
                </a:lnTo>
                <a:lnTo>
                  <a:pt x="105817" y="353142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-99651"/>
            <a:ext cx="10731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2451100"/>
            <a:ext cx="5861236" cy="3686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00" y="2451100"/>
            <a:ext cx="5892329" cy="3686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432" y="222148"/>
            <a:ext cx="46202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885" algn="l"/>
              </a:tabLst>
            </a:pP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Correlation</a:t>
            </a: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Heatmap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071530"/>
            <a:ext cx="1056830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0665" marR="5080" indent="-228600">
              <a:lnSpc>
                <a:spcPts val="1839"/>
              </a:lnSpc>
              <a:spcBef>
                <a:spcPts val="330"/>
              </a:spcBef>
              <a:buSzPct val="102941"/>
              <a:buFont typeface="Arial MT"/>
              <a:buChar char="•"/>
              <a:tabLst>
                <a:tab pos="240665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calculated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matrix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numeric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reshaped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matrix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format</a:t>
            </a:r>
            <a:r>
              <a:rPr sz="1700" spc="-10" dirty="0">
                <a:latin typeface="Times New Roman"/>
                <a:cs typeface="Times New Roman"/>
              </a:rPr>
              <a:t> suitable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visualization,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heatmap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visualize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coefficients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displayed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heatmap.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034" cy="137795"/>
          </a:xfrm>
          <a:custGeom>
            <a:avLst/>
            <a:gdLst/>
            <a:ahLst/>
            <a:cxnLst/>
            <a:rect l="l" t="t" r="r" b="b"/>
            <a:pathLst>
              <a:path w="26034" h="13779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828800"/>
            <a:ext cx="6783567" cy="4100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2710">
              <a:lnSpc>
                <a:spcPct val="100000"/>
              </a:lnSpc>
              <a:spcBef>
                <a:spcPts val="100"/>
              </a:spcBef>
            </a:pPr>
            <a:r>
              <a:rPr sz="4300" b="0" dirty="0">
                <a:solidFill>
                  <a:srgbClr val="000000"/>
                </a:solidFill>
                <a:latin typeface="Times New Roman"/>
                <a:cs typeface="Times New Roman"/>
              </a:rPr>
              <a:t>Statistical</a:t>
            </a:r>
            <a:r>
              <a:rPr sz="43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Modelling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629" y="863863"/>
            <a:ext cx="1102233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939"/>
              </a:lnSpc>
              <a:spcBef>
                <a:spcPts val="100"/>
              </a:spcBef>
              <a:buSzPct val="102941"/>
              <a:buFont typeface="Arial MT"/>
              <a:buChar char="•"/>
              <a:tabLst>
                <a:tab pos="241300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generated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scatter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plots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numeric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column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(excluding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“Life.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expectancy”)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dataset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against</a:t>
            </a:r>
            <a:r>
              <a:rPr sz="1700" spc="-10" dirty="0">
                <a:latin typeface="Times New Roman"/>
                <a:cs typeface="Times New Roman"/>
              </a:rPr>
              <a:t> “Life.expectancy”,</a:t>
            </a:r>
            <a:endParaRPr sz="170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</a:pPr>
            <a:r>
              <a:rPr sz="1700" dirty="0">
                <a:latin typeface="Times New Roman"/>
                <a:cs typeface="Times New Roman"/>
              </a:rPr>
              <a:t>fit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linear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regression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plot,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organize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plots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easy</a:t>
            </a:r>
            <a:r>
              <a:rPr sz="1700" spc="-10" dirty="0">
                <a:latin typeface="Times New Roman"/>
                <a:cs typeface="Times New Roman"/>
              </a:rPr>
              <a:t> visualization.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034" cy="276225"/>
          </a:xfrm>
          <a:custGeom>
            <a:avLst/>
            <a:gdLst/>
            <a:ahLst/>
            <a:cxnLst/>
            <a:rect l="l" t="t" r="r" b="b"/>
            <a:pathLst>
              <a:path w="26034" h="27622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9700" y="2095500"/>
            <a:ext cx="5473700" cy="4191000"/>
            <a:chOff x="139700" y="2095500"/>
            <a:chExt cx="5473700" cy="4191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2095500"/>
              <a:ext cx="5473700" cy="4191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2184400"/>
              <a:ext cx="5256452" cy="39708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00" y="2183327"/>
              <a:ext cx="5256530" cy="3971290"/>
            </a:xfrm>
            <a:custGeom>
              <a:avLst/>
              <a:gdLst/>
              <a:ahLst/>
              <a:cxnLst/>
              <a:rect l="l" t="t" r="r" b="b"/>
              <a:pathLst>
                <a:path w="5256530" h="3971290">
                  <a:moveTo>
                    <a:pt x="0" y="0"/>
                  </a:moveTo>
                  <a:lnTo>
                    <a:pt x="5256452" y="0"/>
                  </a:lnTo>
                  <a:lnTo>
                    <a:pt x="5256452" y="3970855"/>
                  </a:lnTo>
                  <a:lnTo>
                    <a:pt x="0" y="3970855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159500" y="2095500"/>
            <a:ext cx="5727700" cy="4191000"/>
            <a:chOff x="6159500" y="2095500"/>
            <a:chExt cx="5727700" cy="4191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9500" y="2095500"/>
              <a:ext cx="5727700" cy="4191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2184400"/>
              <a:ext cx="5499485" cy="39708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48400" y="2183326"/>
              <a:ext cx="5499735" cy="3971290"/>
            </a:xfrm>
            <a:custGeom>
              <a:avLst/>
              <a:gdLst/>
              <a:ahLst/>
              <a:cxnLst/>
              <a:rect l="l" t="t" r="r" b="b"/>
              <a:pathLst>
                <a:path w="5499734" h="3971290">
                  <a:moveTo>
                    <a:pt x="0" y="0"/>
                  </a:moveTo>
                  <a:lnTo>
                    <a:pt x="5499485" y="0"/>
                  </a:lnTo>
                  <a:lnTo>
                    <a:pt x="5499485" y="3970856"/>
                  </a:lnTo>
                  <a:lnTo>
                    <a:pt x="0" y="3970856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3115" y="137974"/>
            <a:ext cx="70688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Multiple</a:t>
            </a:r>
            <a:r>
              <a:rPr sz="4000" b="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Linear</a:t>
            </a:r>
            <a:r>
              <a:rPr sz="4000" b="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Regression</a:t>
            </a:r>
            <a:r>
              <a:rPr sz="4000" b="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6034" cy="276225"/>
          </a:xfrm>
          <a:custGeom>
            <a:avLst/>
            <a:gdLst/>
            <a:ahLst/>
            <a:cxnLst/>
            <a:rect l="l" t="t" r="r" b="b"/>
            <a:pathLst>
              <a:path w="26034" h="27622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171699"/>
            <a:ext cx="4572000" cy="45522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5940" y="830033"/>
            <a:ext cx="11198225" cy="186308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315"/>
              </a:spcBef>
              <a:buSzPct val="103125"/>
              <a:buFont typeface="Arial MT"/>
              <a:buChar char="•"/>
              <a:tabLst>
                <a:tab pos="241300" algn="l"/>
              </a:tabLst>
            </a:pPr>
            <a:r>
              <a:rPr sz="1600" spc="-55" dirty="0">
                <a:latin typeface="Times New Roman"/>
                <a:cs typeface="Times New Roman"/>
              </a:rPr>
              <a:t>We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conducted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linear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regression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visualize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linear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distribution.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findings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variables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that </a:t>
            </a:r>
            <a:r>
              <a:rPr sz="1600" dirty="0">
                <a:latin typeface="Times New Roman"/>
                <a:cs typeface="Times New Roman"/>
              </a:rPr>
              <a:t>significantly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impact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expectancy,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status,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adult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mortality,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under-</a:t>
            </a:r>
            <a:r>
              <a:rPr sz="1600" dirty="0">
                <a:latin typeface="Times New Roman"/>
                <a:cs typeface="Times New Roman"/>
              </a:rPr>
              <a:t>five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deaths,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increased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BMI,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vaccination </a:t>
            </a:r>
            <a:r>
              <a:rPr sz="1600" dirty="0">
                <a:latin typeface="Times New Roman"/>
                <a:cs typeface="Times New Roman"/>
              </a:rPr>
              <a:t>coverage.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HIV/AIDS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major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concern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dramatically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decreases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expectancy.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Additionally,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human </a:t>
            </a:r>
            <a:r>
              <a:rPr sz="1600" dirty="0">
                <a:latin typeface="Times New Roman"/>
                <a:cs typeface="Times New Roman"/>
              </a:rPr>
              <a:t>development,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education,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income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composition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resources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strong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positive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associations,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indicating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importance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targeted </a:t>
            </a:r>
            <a:r>
              <a:rPr sz="1600" dirty="0">
                <a:latin typeface="Times New Roman"/>
                <a:cs typeface="Times New Roman"/>
              </a:rPr>
              <a:t>health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interventions,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education,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resource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allocation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life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expectancy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various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countries.</a:t>
            </a:r>
            <a:endParaRPr sz="1600">
              <a:latin typeface="Times New Roman"/>
              <a:cs typeface="Times New Roman"/>
            </a:endParaRPr>
          </a:p>
          <a:p>
            <a:pPr marL="5768340">
              <a:lnSpc>
                <a:spcPts val="4025"/>
              </a:lnSpc>
            </a:pPr>
            <a:r>
              <a:rPr sz="3700" dirty="0">
                <a:latin typeface="Times New Roman"/>
                <a:cs typeface="Times New Roman"/>
              </a:rPr>
              <a:t>Model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Refinement</a:t>
            </a:r>
            <a:endParaRPr sz="3200">
              <a:latin typeface="Times New Roman"/>
              <a:cs typeface="Times New Roman"/>
            </a:endParaRPr>
          </a:p>
          <a:p>
            <a:pPr marL="5568950" lvl="1" indent="-286385">
              <a:lnSpc>
                <a:spcPts val="1570"/>
              </a:lnSpc>
              <a:buSzPct val="103571"/>
              <a:buFont typeface="Arial MT"/>
              <a:buChar char="•"/>
              <a:tabLst>
                <a:tab pos="5568950" algn="l"/>
              </a:tabLst>
            </a:pPr>
            <a:r>
              <a:rPr sz="1400" dirty="0">
                <a:latin typeface="Times New Roman"/>
                <a:cs typeface="Times New Roman"/>
              </a:rPr>
              <a:t>Building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Linear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predictors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7900" y="2730500"/>
            <a:ext cx="4114800" cy="3989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132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4000" b="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Diagnostics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828353"/>
            <a:ext cx="11564620" cy="111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939"/>
              </a:lnSpc>
              <a:spcBef>
                <a:spcPts val="100"/>
              </a:spcBef>
              <a:buSzPct val="102941"/>
              <a:buFont typeface="Arial MT"/>
              <a:buChar char="•"/>
              <a:tabLst>
                <a:tab pos="241300" algn="l"/>
              </a:tabLst>
            </a:pPr>
            <a:r>
              <a:rPr sz="1700" spc="-35" dirty="0">
                <a:latin typeface="Times New Roman"/>
                <a:cs typeface="Times New Roman"/>
              </a:rPr>
              <a:t>We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Quantile-Quantile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(Q-Q)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residuals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“significant_model”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assess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residuals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follow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</a:pPr>
            <a:r>
              <a:rPr sz="1700" dirty="0">
                <a:latin typeface="Times New Roman"/>
                <a:cs typeface="Times New Roman"/>
              </a:rPr>
              <a:t>normal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distribution,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important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assumption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linear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regression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models.</a:t>
            </a:r>
            <a:endParaRPr sz="1700">
              <a:latin typeface="Times New Roman"/>
              <a:cs typeface="Times New Roman"/>
            </a:endParaRPr>
          </a:p>
          <a:p>
            <a:pPr marL="241300" indent="-228600">
              <a:lnSpc>
                <a:spcPts val="1939"/>
              </a:lnSpc>
              <a:spcBef>
                <a:spcPts val="795"/>
              </a:spcBef>
              <a:buSzPct val="102941"/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histogram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density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plot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residuals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“significant_model”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visualize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their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distribution,</a:t>
            </a:r>
            <a:r>
              <a:rPr sz="1700" spc="-10" dirty="0">
                <a:latin typeface="Times New Roman"/>
                <a:cs typeface="Times New Roman"/>
              </a:rPr>
              <a:t> which</a:t>
            </a:r>
            <a:endParaRPr sz="1700">
              <a:latin typeface="Times New Roman"/>
              <a:cs typeface="Times New Roman"/>
            </a:endParaRPr>
          </a:p>
          <a:p>
            <a:pPr marL="241300">
              <a:lnSpc>
                <a:spcPts val="1939"/>
              </a:lnSpc>
            </a:pPr>
            <a:r>
              <a:rPr sz="1700" dirty="0">
                <a:latin typeface="Times New Roman"/>
                <a:cs typeface="Times New Roman"/>
              </a:rPr>
              <a:t>helps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assessing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goodness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model.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034" cy="277495"/>
          </a:xfrm>
          <a:custGeom>
            <a:avLst/>
            <a:gdLst/>
            <a:ahLst/>
            <a:cxnLst/>
            <a:rect l="l" t="t" r="r" b="b"/>
            <a:pathLst>
              <a:path w="26034" h="27749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0" y="276999"/>
                </a:lnTo>
                <a:lnTo>
                  <a:pt x="25704" y="276999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5400" y="2057400"/>
            <a:ext cx="12146915" cy="4667250"/>
            <a:chOff x="25400" y="2057400"/>
            <a:chExt cx="12146915" cy="46672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4191000"/>
              <a:ext cx="4551729" cy="25332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00" y="4191000"/>
              <a:ext cx="4515079" cy="25332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600" y="2057400"/>
              <a:ext cx="3962400" cy="21296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0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Visualization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6034" cy="277495"/>
          </a:xfrm>
          <a:custGeom>
            <a:avLst/>
            <a:gdLst/>
            <a:ahLst/>
            <a:cxnLst/>
            <a:rect l="l" t="t" r="r" b="b"/>
            <a:pathLst>
              <a:path w="26034" h="27749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0" y="276999"/>
                </a:lnTo>
                <a:lnTo>
                  <a:pt x="25704" y="276999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9600" y="812800"/>
            <a:ext cx="5009772" cy="2951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9600" y="3810000"/>
            <a:ext cx="5001147" cy="28868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3835399"/>
            <a:ext cx="4876800" cy="2868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600" y="914400"/>
            <a:ext cx="4876800" cy="28483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0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Visualization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6034" cy="277495"/>
          </a:xfrm>
          <a:custGeom>
            <a:avLst/>
            <a:gdLst/>
            <a:ahLst/>
            <a:cxnLst/>
            <a:rect l="l" t="t" r="r" b="b"/>
            <a:pathLst>
              <a:path w="26034" h="27749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0" y="276999"/>
                </a:lnTo>
                <a:lnTo>
                  <a:pt x="25704" y="276999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" y="3581400"/>
            <a:ext cx="4413184" cy="2668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838200"/>
            <a:ext cx="3999303" cy="23942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5400" y="838200"/>
            <a:ext cx="3999304" cy="23291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42200" y="3632200"/>
            <a:ext cx="4479076" cy="27221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100" y="863600"/>
            <a:ext cx="3587870" cy="2329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0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Visualization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6034" cy="277495"/>
          </a:xfrm>
          <a:custGeom>
            <a:avLst/>
            <a:gdLst/>
            <a:ahLst/>
            <a:cxnLst/>
            <a:rect l="l" t="t" r="r" b="b"/>
            <a:pathLst>
              <a:path w="26034" h="277495">
                <a:moveTo>
                  <a:pt x="25704" y="0"/>
                </a:moveTo>
                <a:lnTo>
                  <a:pt x="0" y="0"/>
                </a:lnTo>
                <a:lnTo>
                  <a:pt x="0" y="137655"/>
                </a:lnTo>
                <a:lnTo>
                  <a:pt x="0" y="276186"/>
                </a:lnTo>
                <a:lnTo>
                  <a:pt x="0" y="276999"/>
                </a:lnTo>
                <a:lnTo>
                  <a:pt x="25704" y="276999"/>
                </a:lnTo>
                <a:lnTo>
                  <a:pt x="25704" y="276186"/>
                </a:lnTo>
                <a:lnTo>
                  <a:pt x="25704" y="137655"/>
                </a:lnTo>
                <a:lnTo>
                  <a:pt x="2570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9800" y="3810000"/>
            <a:ext cx="4714909" cy="28003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9800" y="698500"/>
            <a:ext cx="4714909" cy="2938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700" y="3810000"/>
            <a:ext cx="4613916" cy="28003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200" y="774700"/>
            <a:ext cx="4676791" cy="27951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024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5563" y="121398"/>
            <a:ext cx="5676437" cy="685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539" y="941305"/>
            <a:ext cx="5941695" cy="407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6985" indent="-284480" algn="just">
              <a:lnSpc>
                <a:spcPct val="100000"/>
              </a:lnSpc>
              <a:spcBef>
                <a:spcPts val="100"/>
              </a:spcBef>
              <a:buSzPct val="103571"/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statistical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concluded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best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	</a:t>
            </a:r>
            <a:r>
              <a:rPr sz="1400" dirty="0">
                <a:latin typeface="Times New Roman"/>
                <a:cs typeface="Times New Roman"/>
              </a:rPr>
              <a:t>determining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expectancy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linear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	</a:t>
            </a:r>
            <a:r>
              <a:rPr sz="1400" dirty="0">
                <a:latin typeface="Times New Roman"/>
                <a:cs typeface="Times New Roman"/>
              </a:rPr>
              <a:t>development,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adult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infant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deaths, health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expenditure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percentage 	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GDP,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Hepatitis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coverage,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under-</a:t>
            </a:r>
            <a:r>
              <a:rPr sz="1400" dirty="0">
                <a:latin typeface="Times New Roman"/>
                <a:cs typeface="Times New Roman"/>
              </a:rPr>
              <a:t>five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deaths,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Diphtheria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immunization 	</a:t>
            </a:r>
            <a:r>
              <a:rPr sz="1400" dirty="0">
                <a:latin typeface="Times New Roman"/>
                <a:cs typeface="Times New Roman"/>
              </a:rPr>
              <a:t>coverage,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HIV/AIDS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prevalence,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income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composition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resources,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thinness 	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children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5-9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years,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schooling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explanatory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variables.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7180" marR="7620" indent="-284480" algn="just">
              <a:lnSpc>
                <a:spcPct val="100000"/>
              </a:lnSpc>
              <a:buSzPct val="103571"/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question,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small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p-</a:t>
            </a:r>
            <a:r>
              <a:rPr sz="1400" dirty="0">
                <a:latin typeface="Times New Roman"/>
                <a:cs typeface="Times New Roman"/>
              </a:rPr>
              <a:t>values</a:t>
            </a:r>
            <a:r>
              <a:rPr sz="1400" spc="3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indicate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observed 	</a:t>
            </a:r>
            <a:r>
              <a:rPr sz="1400" dirty="0">
                <a:latin typeface="Times New Roman"/>
                <a:cs typeface="Times New Roman"/>
              </a:rPr>
              <a:t>relationships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expectancy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highly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unlikely 	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occurred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chance,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evidence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strongly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suggests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 	</a:t>
            </a:r>
            <a:r>
              <a:rPr sz="1400" dirty="0">
                <a:latin typeface="Times New Roman"/>
                <a:cs typeface="Times New Roman"/>
              </a:rPr>
              <a:t>indicators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socio-</a:t>
            </a:r>
            <a:r>
              <a:rPr sz="1400" dirty="0">
                <a:latin typeface="Times New Roman"/>
                <a:cs typeface="Times New Roman"/>
              </a:rPr>
              <a:t>economic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factors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indeed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determinants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	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expectancy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across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countries.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97180" marR="5080" indent="-284480" algn="just">
              <a:lnSpc>
                <a:spcPct val="100000"/>
              </a:lnSpc>
              <a:buSzPct val="103571"/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second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question,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level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education,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represented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	</a:t>
            </a:r>
            <a:r>
              <a:rPr sz="1400" dirty="0">
                <a:latin typeface="Times New Roman"/>
                <a:cs typeface="Times New Roman"/>
              </a:rPr>
              <a:t>"Schooling"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variable,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positive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impact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expectancy, 	</a:t>
            </a:r>
            <a:r>
              <a:rPr sz="1400" dirty="0">
                <a:latin typeface="Times New Roman"/>
                <a:cs typeface="Times New Roman"/>
              </a:rPr>
              <a:t>even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controlling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economic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health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indicators.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p-value 	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2.87e-05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"Schooling"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indicates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strong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evidence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against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	</a:t>
            </a:r>
            <a:r>
              <a:rPr sz="1400" dirty="0">
                <a:latin typeface="Times New Roman"/>
                <a:cs typeface="Times New Roman"/>
              </a:rPr>
              <a:t>null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hypothesis,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suggesting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education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plays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crucial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determining 	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expectancy,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beyond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effects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factors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024" rIns="0" bIns="0" rtlCol="0">
            <a:spAutoFit/>
          </a:bodyPr>
          <a:lstStyle/>
          <a:p>
            <a:pPr marL="338962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Freeman,</a:t>
            </a:r>
            <a:r>
              <a:rPr spc="-75" dirty="0"/>
              <a:t> </a:t>
            </a:r>
            <a:r>
              <a:rPr spc="-10" dirty="0"/>
              <a:t>T.,</a:t>
            </a:r>
            <a:r>
              <a:rPr spc="-20" dirty="0"/>
              <a:t> Gesesew,</a:t>
            </a:r>
            <a:r>
              <a:rPr spc="-25" dirty="0"/>
              <a:t> </a:t>
            </a:r>
            <a:r>
              <a:rPr spc="-10" dirty="0"/>
              <a:t>H.</a:t>
            </a:r>
            <a:r>
              <a:rPr spc="-80" dirty="0"/>
              <a:t> </a:t>
            </a:r>
            <a:r>
              <a:rPr dirty="0"/>
              <a:t>A.,</a:t>
            </a:r>
            <a:r>
              <a:rPr spc="-25" dirty="0"/>
              <a:t> </a:t>
            </a:r>
            <a:r>
              <a:rPr dirty="0"/>
              <a:t>Bambra,</a:t>
            </a:r>
            <a:r>
              <a:rPr spc="-25" dirty="0"/>
              <a:t> </a:t>
            </a:r>
            <a:r>
              <a:rPr dirty="0"/>
              <a:t>C.,</a:t>
            </a:r>
            <a:r>
              <a:rPr spc="-20" dirty="0"/>
              <a:t> </a:t>
            </a:r>
            <a:r>
              <a:rPr dirty="0"/>
              <a:t>Giugliani,</a:t>
            </a:r>
            <a:r>
              <a:rPr spc="-25" dirty="0"/>
              <a:t> </a:t>
            </a:r>
            <a:r>
              <a:rPr dirty="0"/>
              <a:t>E.</a:t>
            </a:r>
            <a:r>
              <a:rPr spc="-25" dirty="0"/>
              <a:t> </a:t>
            </a:r>
            <a:r>
              <a:rPr dirty="0"/>
              <a:t>R.</a:t>
            </a:r>
            <a:r>
              <a:rPr spc="-25" dirty="0"/>
              <a:t> </a:t>
            </a:r>
            <a:r>
              <a:rPr dirty="0"/>
              <a:t>J.,</a:t>
            </a:r>
            <a:r>
              <a:rPr spc="-25" dirty="0"/>
              <a:t> </a:t>
            </a:r>
            <a:r>
              <a:rPr spc="-10" dirty="0"/>
              <a:t>Popay,</a:t>
            </a:r>
            <a:r>
              <a:rPr spc="-20" dirty="0"/>
              <a:t> </a:t>
            </a:r>
            <a:r>
              <a:rPr dirty="0"/>
              <a:t>J.,</a:t>
            </a:r>
            <a:r>
              <a:rPr spc="-25" dirty="0"/>
              <a:t> </a:t>
            </a:r>
            <a:r>
              <a:rPr dirty="0"/>
              <a:t>Sanders,</a:t>
            </a:r>
            <a:r>
              <a:rPr spc="-25" dirty="0"/>
              <a:t> </a:t>
            </a:r>
            <a:r>
              <a:rPr dirty="0"/>
              <a:t>D.,</a:t>
            </a:r>
            <a:r>
              <a:rPr spc="-25" dirty="0"/>
              <a:t> </a:t>
            </a:r>
            <a:r>
              <a:rPr dirty="0"/>
              <a:t>Macinko,</a:t>
            </a:r>
            <a:r>
              <a:rPr spc="-20" dirty="0"/>
              <a:t> </a:t>
            </a:r>
            <a:r>
              <a:rPr dirty="0"/>
              <a:t>J.,</a:t>
            </a:r>
            <a:r>
              <a:rPr spc="-25" dirty="0"/>
              <a:t> </a:t>
            </a:r>
            <a:r>
              <a:rPr dirty="0"/>
              <a:t>Musolino,</a:t>
            </a:r>
            <a:r>
              <a:rPr spc="-25" dirty="0"/>
              <a:t> </a:t>
            </a:r>
            <a:r>
              <a:rPr dirty="0"/>
              <a:t>C.,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Baum,</a:t>
            </a:r>
            <a:r>
              <a:rPr spc="-20" dirty="0"/>
              <a:t> </a:t>
            </a:r>
            <a:r>
              <a:rPr spc="-30" dirty="0"/>
              <a:t>F.</a:t>
            </a:r>
            <a:r>
              <a:rPr spc="-25" dirty="0"/>
              <a:t> </a:t>
            </a:r>
            <a:r>
              <a:rPr dirty="0"/>
              <a:t>(2020).</a:t>
            </a:r>
            <a:r>
              <a:rPr spc="-50" dirty="0"/>
              <a:t> </a:t>
            </a:r>
            <a:r>
              <a:rPr dirty="0"/>
              <a:t>Why</a:t>
            </a:r>
            <a:r>
              <a:rPr spc="-25" dirty="0"/>
              <a:t> </a:t>
            </a:r>
            <a:r>
              <a:rPr dirty="0"/>
              <a:t>do</a:t>
            </a:r>
            <a:r>
              <a:rPr spc="-25" dirty="0"/>
              <a:t> </a:t>
            </a:r>
            <a:r>
              <a:rPr dirty="0"/>
              <a:t>some</a:t>
            </a:r>
            <a:r>
              <a:rPr spc="-25" dirty="0"/>
              <a:t> </a:t>
            </a:r>
            <a:r>
              <a:rPr spc="-10" dirty="0"/>
              <a:t>countries</a:t>
            </a:r>
            <a:r>
              <a:rPr spc="-30" dirty="0"/>
              <a:t> </a:t>
            </a:r>
            <a:r>
              <a:rPr spc="-25" dirty="0"/>
              <a:t>do</a:t>
            </a:r>
          </a:p>
          <a:p>
            <a:pPr marL="927100" marR="142875">
              <a:lnSpc>
                <a:spcPct val="200000"/>
              </a:lnSpc>
            </a:pPr>
            <a:r>
              <a:rPr dirty="0"/>
              <a:t>better</a:t>
            </a:r>
            <a:r>
              <a:rPr spc="-5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worse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life</a:t>
            </a:r>
            <a:r>
              <a:rPr spc="-25" dirty="0"/>
              <a:t> </a:t>
            </a:r>
            <a:r>
              <a:rPr dirty="0"/>
              <a:t>expectancy</a:t>
            </a:r>
            <a:r>
              <a:rPr spc="-25" dirty="0"/>
              <a:t> </a:t>
            </a:r>
            <a:r>
              <a:rPr dirty="0"/>
              <a:t>relative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income?</a:t>
            </a:r>
            <a:r>
              <a:rPr spc="-8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analysis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Brazil,</a:t>
            </a:r>
            <a:r>
              <a:rPr spc="-25" dirty="0"/>
              <a:t> </a:t>
            </a:r>
            <a:r>
              <a:rPr dirty="0"/>
              <a:t>Ethiopia,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United</a:t>
            </a:r>
            <a:r>
              <a:rPr spc="-25" dirty="0"/>
              <a:t> </a:t>
            </a:r>
            <a:r>
              <a:rPr dirty="0"/>
              <a:t>States</a:t>
            </a:r>
            <a:r>
              <a:rPr spc="-3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America.</a:t>
            </a:r>
            <a:r>
              <a:rPr spc="15" dirty="0"/>
              <a:t> </a:t>
            </a:r>
            <a:r>
              <a:rPr i="1" dirty="0">
                <a:latin typeface="Times New Roman"/>
                <a:cs typeface="Times New Roman"/>
              </a:rPr>
              <a:t>International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Journal</a:t>
            </a:r>
            <a:r>
              <a:rPr i="1" spc="-25" dirty="0">
                <a:latin typeface="Times New Roman"/>
                <a:cs typeface="Times New Roman"/>
              </a:rPr>
              <a:t> for </a:t>
            </a:r>
            <a:r>
              <a:rPr i="1" dirty="0">
                <a:latin typeface="Times New Roman"/>
                <a:cs typeface="Times New Roman"/>
              </a:rPr>
              <a:t>Equity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in</a:t>
            </a:r>
            <a:r>
              <a:rPr i="1" spc="4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Health</a:t>
            </a:r>
            <a:r>
              <a:rPr dirty="0"/>
              <a:t>,</a:t>
            </a:r>
            <a:r>
              <a:rPr spc="45" dirty="0"/>
              <a:t> </a:t>
            </a:r>
            <a:r>
              <a:rPr i="1" dirty="0">
                <a:latin typeface="Times New Roman"/>
                <a:cs typeface="Times New Roman"/>
              </a:rPr>
              <a:t>19</a:t>
            </a:r>
            <a:r>
              <a:rPr dirty="0"/>
              <a:t>(1).</a:t>
            </a:r>
            <a:r>
              <a:rPr spc="45" dirty="0"/>
              <a:t> </a:t>
            </a:r>
            <a:r>
              <a:rPr spc="-10" dirty="0"/>
              <a:t>https://doi.org/10.1186/s12939-</a:t>
            </a:r>
            <a:r>
              <a:rPr dirty="0"/>
              <a:t>020-01315-</a:t>
            </a:r>
            <a:r>
              <a:rPr spc="-50" dirty="0"/>
              <a:t>z</a:t>
            </a: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pc="-50" dirty="0"/>
          </a:p>
          <a:p>
            <a:pPr marL="927100" marR="5080" indent="-914400">
              <a:lnSpc>
                <a:spcPct val="200000"/>
              </a:lnSpc>
            </a:pPr>
            <a:r>
              <a:rPr spc="-10" dirty="0"/>
              <a:t>Rogoz,</a:t>
            </a:r>
            <a:r>
              <a:rPr spc="-80" dirty="0"/>
              <a:t> </a:t>
            </a:r>
            <a:r>
              <a:rPr dirty="0"/>
              <a:t>A.</a:t>
            </a:r>
            <a:r>
              <a:rPr spc="-75" dirty="0"/>
              <a:t> </a:t>
            </a:r>
            <a:r>
              <a:rPr spc="-20" dirty="0"/>
              <a:t>T. </a:t>
            </a:r>
            <a:r>
              <a:rPr dirty="0"/>
              <a:t>M.,</a:t>
            </a:r>
            <a:r>
              <a:rPr spc="-20" dirty="0"/>
              <a:t> </a:t>
            </a:r>
            <a:r>
              <a:rPr dirty="0"/>
              <a:t>Sart,</a:t>
            </a:r>
            <a:r>
              <a:rPr spc="-25" dirty="0"/>
              <a:t> </a:t>
            </a:r>
            <a:r>
              <a:rPr dirty="0"/>
              <a:t>G.,</a:t>
            </a:r>
            <a:r>
              <a:rPr spc="-20" dirty="0"/>
              <a:t> Bayar,</a:t>
            </a:r>
            <a:r>
              <a:rPr spc="-65" dirty="0"/>
              <a:t> </a:t>
            </a:r>
            <a:r>
              <a:rPr spc="-60" dirty="0"/>
              <a:t>Y.,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Gavriletea,</a:t>
            </a:r>
            <a:r>
              <a:rPr spc="-20" dirty="0"/>
              <a:t> </a:t>
            </a:r>
            <a:r>
              <a:rPr dirty="0"/>
              <a:t>M.</a:t>
            </a:r>
            <a:r>
              <a:rPr spc="-25" dirty="0"/>
              <a:t> </a:t>
            </a:r>
            <a:r>
              <a:rPr dirty="0"/>
              <a:t>D.</a:t>
            </a:r>
            <a:r>
              <a:rPr spc="-20" dirty="0"/>
              <a:t> </a:t>
            </a:r>
            <a:r>
              <a:rPr dirty="0"/>
              <a:t>(2022).</a:t>
            </a:r>
            <a:r>
              <a:rPr spc="-20" dirty="0"/>
              <a:t> </a:t>
            </a:r>
            <a:r>
              <a:rPr dirty="0"/>
              <a:t>Impact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economic</a:t>
            </a:r>
            <a:r>
              <a:rPr spc="-20" dirty="0"/>
              <a:t> </a:t>
            </a:r>
            <a:r>
              <a:rPr dirty="0"/>
              <a:t>freedom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educational</a:t>
            </a:r>
            <a:r>
              <a:rPr spc="-25" dirty="0"/>
              <a:t> </a:t>
            </a:r>
            <a:r>
              <a:rPr dirty="0"/>
              <a:t>attainment</a:t>
            </a:r>
            <a:r>
              <a:rPr spc="-2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life</a:t>
            </a:r>
            <a:r>
              <a:rPr spc="-25" dirty="0"/>
              <a:t> </a:t>
            </a:r>
            <a:r>
              <a:rPr dirty="0"/>
              <a:t>expectancy:</a:t>
            </a:r>
            <a:r>
              <a:rPr spc="-20" dirty="0"/>
              <a:t> </a:t>
            </a:r>
            <a:r>
              <a:rPr dirty="0"/>
              <a:t>evidence</a:t>
            </a:r>
            <a:r>
              <a:rPr spc="-20" dirty="0"/>
              <a:t> </a:t>
            </a:r>
            <a:r>
              <a:rPr dirty="0"/>
              <a:t>from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new</a:t>
            </a:r>
            <a:r>
              <a:rPr spc="-30" dirty="0"/>
              <a:t> </a:t>
            </a:r>
            <a:r>
              <a:rPr dirty="0"/>
              <a:t>EU</a:t>
            </a:r>
            <a:r>
              <a:rPr spc="-25" dirty="0"/>
              <a:t> </a:t>
            </a:r>
            <a:r>
              <a:rPr dirty="0"/>
              <a:t>member</a:t>
            </a:r>
            <a:r>
              <a:rPr spc="-20" dirty="0"/>
              <a:t> </a:t>
            </a:r>
            <a:r>
              <a:rPr dirty="0"/>
              <a:t>states.</a:t>
            </a:r>
            <a:r>
              <a:rPr spc="-10" dirty="0"/>
              <a:t> </a:t>
            </a:r>
            <a:r>
              <a:rPr i="1" spc="-10" dirty="0">
                <a:latin typeface="Times New Roman"/>
                <a:cs typeface="Times New Roman"/>
              </a:rPr>
              <a:t>Frontiers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in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Public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Health</a:t>
            </a:r>
            <a:r>
              <a:rPr dirty="0"/>
              <a:t>,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10</a:t>
            </a:r>
            <a:r>
              <a:rPr dirty="0"/>
              <a:t>.</a:t>
            </a:r>
            <a:r>
              <a:rPr spc="-25" dirty="0"/>
              <a:t> </a:t>
            </a:r>
            <a:r>
              <a:rPr spc="-10" dirty="0"/>
              <a:t>https://doi.org/10.3389/fpubh.2022.907138</a:t>
            </a: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pc="-10" dirty="0"/>
          </a:p>
          <a:p>
            <a:pPr marL="927100" marR="224790" indent="-914400">
              <a:lnSpc>
                <a:spcPct val="200000"/>
              </a:lnSpc>
            </a:pPr>
            <a:r>
              <a:rPr dirty="0"/>
              <a:t>Singh,</a:t>
            </a:r>
            <a:r>
              <a:rPr spc="-25" dirty="0"/>
              <a:t> </a:t>
            </a:r>
            <a:r>
              <a:rPr dirty="0"/>
              <a:t>G.</a:t>
            </a:r>
            <a:r>
              <a:rPr spc="-20" dirty="0"/>
              <a:t> </a:t>
            </a:r>
            <a:r>
              <a:rPr dirty="0"/>
              <a:t>K.,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Lee,</a:t>
            </a:r>
            <a:r>
              <a:rPr spc="-20" dirty="0"/>
              <a:t> </a:t>
            </a:r>
            <a:r>
              <a:rPr dirty="0"/>
              <a:t>H.</a:t>
            </a:r>
            <a:r>
              <a:rPr spc="-20" dirty="0"/>
              <a:t> </a:t>
            </a:r>
            <a:r>
              <a:rPr dirty="0"/>
              <a:t>(2020).</a:t>
            </a:r>
            <a:r>
              <a:rPr spc="-25" dirty="0"/>
              <a:t> </a:t>
            </a:r>
            <a:r>
              <a:rPr dirty="0"/>
              <a:t>Marked</a:t>
            </a:r>
            <a:r>
              <a:rPr spc="-20" dirty="0"/>
              <a:t> </a:t>
            </a:r>
            <a:r>
              <a:rPr spc="-10" dirty="0"/>
              <a:t>disparities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life</a:t>
            </a:r>
            <a:r>
              <a:rPr spc="-20" dirty="0"/>
              <a:t> </a:t>
            </a:r>
            <a:r>
              <a:rPr dirty="0"/>
              <a:t>expectancy</a:t>
            </a:r>
            <a:r>
              <a:rPr spc="-2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poverty</a:t>
            </a:r>
            <a:r>
              <a:rPr spc="-20" dirty="0"/>
              <a:t> </a:t>
            </a:r>
            <a:r>
              <a:rPr dirty="0"/>
              <a:t>level,</a:t>
            </a:r>
            <a:r>
              <a:rPr spc="-25" dirty="0"/>
              <a:t> </a:t>
            </a:r>
            <a:r>
              <a:rPr dirty="0"/>
              <a:t>occupation,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housing</a:t>
            </a:r>
            <a:r>
              <a:rPr spc="-25" dirty="0"/>
              <a:t> </a:t>
            </a:r>
            <a:r>
              <a:rPr dirty="0"/>
              <a:t>tenure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United</a:t>
            </a:r>
            <a:r>
              <a:rPr spc="-20" dirty="0"/>
              <a:t> </a:t>
            </a:r>
            <a:r>
              <a:rPr dirty="0"/>
              <a:t>States,</a:t>
            </a:r>
            <a:r>
              <a:rPr spc="-20" dirty="0"/>
              <a:t> </a:t>
            </a:r>
            <a:r>
              <a:rPr spc="-10" dirty="0"/>
              <a:t>1997- </a:t>
            </a:r>
            <a:r>
              <a:rPr dirty="0"/>
              <a:t>2014.</a:t>
            </a:r>
            <a:r>
              <a:rPr spc="-15" dirty="0"/>
              <a:t> </a:t>
            </a:r>
            <a:r>
              <a:rPr i="1" dirty="0">
                <a:latin typeface="Times New Roman"/>
                <a:cs typeface="Times New Roman"/>
              </a:rPr>
              <a:t>International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Journal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of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MCH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and</a:t>
            </a:r>
            <a:r>
              <a:rPr i="1" spc="-4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AIDS</a:t>
            </a:r>
            <a:r>
              <a:rPr dirty="0"/>
              <a:t>,</a:t>
            </a:r>
            <a:r>
              <a:rPr spc="-10" dirty="0"/>
              <a:t> </a:t>
            </a:r>
            <a:r>
              <a:rPr i="1" dirty="0">
                <a:latin typeface="Times New Roman"/>
                <a:cs typeface="Times New Roman"/>
              </a:rPr>
              <a:t>10</a:t>
            </a:r>
            <a:r>
              <a:rPr dirty="0"/>
              <a:t>(1),</a:t>
            </a:r>
            <a:r>
              <a:rPr spc="-10" dirty="0"/>
              <a:t> </a:t>
            </a:r>
            <a:r>
              <a:rPr dirty="0"/>
              <a:t>7–18.</a:t>
            </a:r>
            <a:r>
              <a:rPr spc="-10" dirty="0"/>
              <a:t> https://doi.org/10.21106/ijma.402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822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84200"/>
            <a:ext cx="4852405" cy="29922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0600" y="584200"/>
            <a:ext cx="5510084" cy="29922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83000"/>
            <a:ext cx="4952998" cy="3030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3683000"/>
            <a:ext cx="5510083" cy="30307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822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47700"/>
            <a:ext cx="3870530" cy="28083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9600" y="647700"/>
            <a:ext cx="3505200" cy="28083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581400"/>
            <a:ext cx="3870530" cy="31558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8200" y="596900"/>
            <a:ext cx="3431292" cy="28503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3400" y="3581400"/>
            <a:ext cx="6203830" cy="323386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822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711200"/>
            <a:ext cx="4274480" cy="25591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800" y="762000"/>
            <a:ext cx="3962400" cy="2515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545149"/>
            <a:ext cx="4274480" cy="31604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0" y="3543300"/>
            <a:ext cx="3581400" cy="31604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69300" y="3543300"/>
            <a:ext cx="3741080" cy="3160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1592</Words>
  <Application>Microsoft Macintosh PowerPoint</Application>
  <PresentationFormat>Widescreen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 MT</vt:lpstr>
      <vt:lpstr>Calibri</vt:lpstr>
      <vt:lpstr>Courier New</vt:lpstr>
      <vt:lpstr>Times New Roman</vt:lpstr>
      <vt:lpstr>Office Theme</vt:lpstr>
      <vt:lpstr>EXAMINING THE IMPACT OF HEALTH INDICATORS, SOCIOECONOMIC FACTORS, AND EDUCATION ON GLOBAL LIFE EXPECTANCY.</vt:lpstr>
      <vt:lpstr>INTRODUCTION</vt:lpstr>
      <vt:lpstr>RESEARCH QUESTION &amp;HYPOTHESIS</vt:lpstr>
      <vt:lpstr>DATA SET</vt:lpstr>
      <vt:lpstr>STEPS</vt:lpstr>
      <vt:lpstr>Analyzing Data Variables</vt:lpstr>
      <vt:lpstr>Data Importing &amp; Data Description</vt:lpstr>
      <vt:lpstr>Defining the selected variables</vt:lpstr>
      <vt:lpstr>Data Cleaning</vt:lpstr>
      <vt:lpstr>Exploratory Data Analysis</vt:lpstr>
      <vt:lpstr>Outliers Detection</vt:lpstr>
      <vt:lpstr>Checking for Normality</vt:lpstr>
      <vt:lpstr>Correlation Heatmap</vt:lpstr>
      <vt:lpstr>Statistical Modelling</vt:lpstr>
      <vt:lpstr>Multiple Linear Regression Model</vt:lpstr>
      <vt:lpstr>Model Diagnostics</vt:lpstr>
      <vt:lpstr>Data Visualization</vt:lpstr>
      <vt:lpstr>Data Visualization</vt:lpstr>
      <vt:lpstr>Data Visualization</vt:lpstr>
      <vt:lpstr>CONCLUSION</vt:lpstr>
      <vt:lpstr>REFERENCE</vt:lpstr>
      <vt:lpstr>APPENDIX</vt:lpstr>
      <vt:lpstr>APPENDIX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 on Life Expectancy Determinants</dc:title>
  <dc:creator>Kalepu, Srinath</dc:creator>
  <cp:lastModifiedBy>Sai Kumar Reddy Yalagalapalli</cp:lastModifiedBy>
  <cp:revision>2</cp:revision>
  <dcterms:created xsi:type="dcterms:W3CDTF">2025-09-17T20:04:45Z</dcterms:created>
  <dcterms:modified xsi:type="dcterms:W3CDTF">2025-09-17T20:08:09Z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Aspose Pty Ltd.</vt:lpwstr>
  </property>
  <property fmtid="{D5CDD505-2E9C-101B-9397-08002B2CF9AE}" pid="4" name="LastSaved">
    <vt:filetime>2025-09-17T00:00:00Z</vt:filetime>
  </property>
  <property fmtid="{D5CDD505-2E9C-101B-9397-08002B2CF9AE}" pid="5" name="Producer">
    <vt:lpwstr>Aspose.PDF for Java 23.4</vt:lpwstr>
  </property>
</Properties>
</file>